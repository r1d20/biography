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99dfcd1a74eab" /><Relationship Type="http://schemas.openxmlformats.org/officeDocument/2006/relationships/extended-properties" Target="/docProps/app.xml" Id="R65b968c274ef47c3" /><Relationship Type="http://schemas.openxmlformats.org/officeDocument/2006/relationships/officeDocument" Target="/ppt/presentation.xml" Id="R418f8914766c47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5dc0dace24ea0"/>
  </p:sldMasterIdLst>
  <p:notesMasterIdLst>
    <p:notesMasterId xmlns:r="http://schemas.openxmlformats.org/officeDocument/2006/relationships" r:id="R5b1b166494234091"/>
  </p:notesMasterIdLst>
  <p:sldIdLst>
    <p:sldId xmlns:r="http://schemas.openxmlformats.org/officeDocument/2006/relationships" id="256" r:id="R19884359c0c04189"/>
    <p:sldId xmlns:r="http://schemas.openxmlformats.org/officeDocument/2006/relationships" id="257" r:id="R6d7d2588bf974754"/>
    <p:sldId xmlns:r="http://schemas.openxmlformats.org/officeDocument/2006/relationships" id="258" r:id="R45f6b1e1c7ed4e0b"/>
    <p:sldId xmlns:r="http://schemas.openxmlformats.org/officeDocument/2006/relationships" id="259" r:id="R17952e6a4cd54a2a"/>
    <p:sldId xmlns:r="http://schemas.openxmlformats.org/officeDocument/2006/relationships" id="260" r:id="R78e1a224875542b4"/>
    <p:sldId xmlns:r="http://schemas.openxmlformats.org/officeDocument/2006/relationships" id="261" r:id="Re5436e3fc35f44f5"/>
    <p:sldId xmlns:r="http://schemas.openxmlformats.org/officeDocument/2006/relationships" id="262" r:id="R8acaafa0161449e3"/>
    <p:sldId xmlns:r="http://schemas.openxmlformats.org/officeDocument/2006/relationships" id="263" r:id="R401268a819ba4132"/>
    <p:sldId xmlns:r="http://schemas.openxmlformats.org/officeDocument/2006/relationships" id="264" r:id="R2ee065c8288e4ed2"/>
    <p:sldId xmlns:r="http://schemas.openxmlformats.org/officeDocument/2006/relationships" id="265" r:id="R12bfe175d72f4828"/>
    <p:sldId xmlns:r="http://schemas.openxmlformats.org/officeDocument/2006/relationships" id="266" r:id="R40e2eee1b51646e1"/>
    <p:sldId xmlns:r="http://schemas.openxmlformats.org/officeDocument/2006/relationships" id="267" r:id="R2b1464300b464e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713ec7de8048d6" /><Relationship Type="http://schemas.openxmlformats.org/officeDocument/2006/relationships/slideMaster" Target="/ppt/slideMasters/slideMaster1.xml" Id="Rd015dc0dace24ea0" /><Relationship Type="http://schemas.openxmlformats.org/officeDocument/2006/relationships/notesMaster" Target="/ppt/notesMasters/notesMaster1.xml" Id="R5b1b166494234091" /><Relationship Type="http://schemas.openxmlformats.org/officeDocument/2006/relationships/presProps" Target="/ppt/presProps.xml" Id="R8d336502559c4e90" /><Relationship Type="http://schemas.openxmlformats.org/officeDocument/2006/relationships/tableStyles" Target="/ppt/tableStyles.xml" Id="Rb3fe054ac37a46d8" /><Relationship Type="http://schemas.openxmlformats.org/officeDocument/2006/relationships/slide" Target="/ppt/slides/slide1.xml" Id="R19884359c0c04189" /><Relationship Type="http://schemas.openxmlformats.org/officeDocument/2006/relationships/slide" Target="/ppt/slides/slide2.xml" Id="R6d7d2588bf974754" /><Relationship Type="http://schemas.openxmlformats.org/officeDocument/2006/relationships/slide" Target="/ppt/slides/slide3.xml" Id="R45f6b1e1c7ed4e0b" /><Relationship Type="http://schemas.openxmlformats.org/officeDocument/2006/relationships/slide" Target="/ppt/slides/slide4.xml" Id="R17952e6a4cd54a2a" /><Relationship Type="http://schemas.openxmlformats.org/officeDocument/2006/relationships/slide" Target="/ppt/slides/slide5.xml" Id="R78e1a224875542b4" /><Relationship Type="http://schemas.openxmlformats.org/officeDocument/2006/relationships/slide" Target="/ppt/slides/slide6.xml" Id="Re5436e3fc35f44f5" /><Relationship Type="http://schemas.openxmlformats.org/officeDocument/2006/relationships/slide" Target="/ppt/slides/slide7.xml" Id="R8acaafa0161449e3" /><Relationship Type="http://schemas.openxmlformats.org/officeDocument/2006/relationships/slide" Target="/ppt/slides/slide8.xml" Id="R401268a819ba4132" /><Relationship Type="http://schemas.openxmlformats.org/officeDocument/2006/relationships/slide" Target="/ppt/slides/slide9.xml" Id="R2ee065c8288e4ed2" /><Relationship Type="http://schemas.openxmlformats.org/officeDocument/2006/relationships/slide" Target="/ppt/slides/slide10.xml" Id="R12bfe175d72f4828" /><Relationship Type="http://schemas.openxmlformats.org/officeDocument/2006/relationships/slide" Target="/ppt/slides/slide11.xml" Id="R40e2eee1b51646e1" /><Relationship Type="http://schemas.openxmlformats.org/officeDocument/2006/relationships/slide" Target="/ppt/slides/slide12.xml" Id="R2b1464300b464e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981336bdd47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a7f7b5f6047f1" /><Relationship Type="http://schemas.openxmlformats.org/officeDocument/2006/relationships/notesMaster" Target="/ppt/notesMasters/notesMaster1.xml" Id="R1d7428593ee743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dbaed461e04e0d" /><Relationship Type="http://schemas.openxmlformats.org/officeDocument/2006/relationships/notesMaster" Target="/ppt/notesMasters/notesMaster1.xml" Id="R4ac3a31382fa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621af34e64b17" /><Relationship Type="http://schemas.openxmlformats.org/officeDocument/2006/relationships/notesMaster" Target="/ppt/notesMasters/notesMaster1.xml" Id="R5739c39ef6de46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8727cdd8f04556" /><Relationship Type="http://schemas.openxmlformats.org/officeDocument/2006/relationships/notesMaster" Target="/ppt/notesMasters/notesMaster1.xml" Id="R749367b1dcae44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c9adfcb7064296" /><Relationship Type="http://schemas.openxmlformats.org/officeDocument/2006/relationships/notesMaster" Target="/ppt/notesMasters/notesMaster1.xml" Id="Rf2be038ac67d41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4817972eee4eba" /><Relationship Type="http://schemas.openxmlformats.org/officeDocument/2006/relationships/notesMaster" Target="/ppt/notesMasters/notesMaster1.xml" Id="Re9b938f1af834a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ec8efddf134efd" /><Relationship Type="http://schemas.openxmlformats.org/officeDocument/2006/relationships/notesMaster" Target="/ppt/notesMasters/notesMaster1.xml" Id="R3debbec7353a4e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e1d49715be493e" /><Relationship Type="http://schemas.openxmlformats.org/officeDocument/2006/relationships/notesMaster" Target="/ppt/notesMasters/notesMaster1.xml" Id="Rcf14021d98894c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11a8732d6246f8" /><Relationship Type="http://schemas.openxmlformats.org/officeDocument/2006/relationships/notesMaster" Target="/ppt/notesMasters/notesMaster1.xml" Id="R1cffb4622b4844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6eb08f2e5c4362" /><Relationship Type="http://schemas.openxmlformats.org/officeDocument/2006/relationships/notesMaster" Target="/ppt/notesMasters/notesMaster1.xml" Id="Rcc4897c212f340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27f9bf417e4d37" /><Relationship Type="http://schemas.openxmlformats.org/officeDocument/2006/relationships/notesMaster" Target="/ppt/notesMasters/notesMaster1.xml" Id="R278ae7908ba448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ef3c1ceab3474d" /><Relationship Type="http://schemas.openxmlformats.org/officeDocument/2006/relationships/notesMaster" Target="/ppt/notesMasters/notesMaster1.xml" Id="Receb8bd89af1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Open cold: ‘What changed the first time an assistant asked permission to run something?’</a:t>
            </a:r>
          </a:p>
          <a:p xmlns:a="http://schemas.openxmlformats.org/drawingml/2006/main">
            <a:r>
              <a:t>• The model itself did not suddenly gain hands. The product around it gained a path into the world.</a:t>
            </a:r>
          </a:p>
          <a:p xmlns:a="http://schemas.openxmlformats.org/drawingml/2006/main">
            <a:r>
              <a:t>• Use the visual left to right: violet is the model’s proposal, amber is authorization, cyan is action.</a:t>
            </a:r>
          </a:p>
          <a:p xmlns:a="http://schemas.openxmlformats.org/drawingml/2006/main">
            <a:r>
              <a:t>• Central idea for the session: agency is assembled around the model.</a:t>
            </a:r>
          </a:p>
          <a:p xmlns:a="http://schemas.openxmlformats.org/drawingml/2006/main">
            <a:r>
              <a:t>• Transition: before we follow that path, separate instructions from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visual: OpenAI image generation, created for this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A skill is guidance: it teaches a repeatable way to perform a job.</a:t>
            </a:r>
          </a:p>
          <a:p xmlns:a="http://schemas.openxmlformats.org/drawingml/2006/main">
            <a:r>
              <a:t>• A tool is capability: it exposes an operation that can read or change something.</a:t>
            </a:r>
          </a:p>
          <a:p xmlns:a="http://schemas.openxmlformats.org/drawingml/2006/main">
            <a:r>
              <a:t>• The harness is the control plane: it decides what context is supplied, which tools are available, and whether a request runs.</a:t>
            </a:r>
          </a:p>
          <a:p xmlns:a="http://schemas.openxmlformats.org/drawingml/2006/main">
            <a:r>
              <a:t>• Stress the verbs: explains, changes, decides.</a:t>
            </a:r>
          </a:p>
          <a:p xmlns:a="http://schemas.openxmlformats.org/drawingml/2006/main">
            <a:r>
              <a:t>• Transition: once a tool is available, every action follows the same basic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Walk the audience from left to right: read, propose, authorize, act, prove.</a:t>
            </a:r>
          </a:p>
          <a:p xmlns:a="http://schemas.openxmlformats.org/drawingml/2006/main">
            <a:r>
              <a:t>• The model produces a structured request; it does not execute the operation itself.</a:t>
            </a:r>
          </a:p>
          <a:p xmlns:a="http://schemas.openxmlformats.org/drawingml/2006/main">
            <a:r>
              <a:t>• Authorization may be automatic policy or a visible human approval.</a:t>
            </a:r>
          </a:p>
          <a:p xmlns:a="http://schemas.openxmlformats.org/drawingml/2006/main">
            <a:r>
              <a:t>• The result must come back as evidence, otherwise the loop cannot know what happened.</a:t>
            </a:r>
          </a:p>
          <a:p xmlns:a="http://schemas.openxmlformats.org/drawingml/2006/main">
            <a:r>
              <a:t>• Point at AUTHORIZE: this is the safety seam.</a:t>
            </a:r>
          </a:p>
          <a:p xmlns:a="http://schemas.openxmlformats.org/drawingml/2006/main">
            <a:r>
              <a:t>• Transition: this pattern becomes valuable when one contract reaches many systems.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pncli is deterministic TypeScript, not an AI model.</a:t>
            </a:r>
          </a:p>
          <a:p xmlns:a="http://schemas.openxmlformats.org/drawingml/2006/main">
            <a:r>
              <a:t>• It provides one predictable interface across systems developers already use.</a:t>
            </a:r>
          </a:p>
          <a:p xmlns:a="http://schemas.openxmlformats.org/drawingml/2006/main">
            <a:r>
              <a:t>• That reduces integration friction for the assistant and makes behavior easier to test.</a:t>
            </a:r>
          </a:p>
          <a:p xmlns:a="http://schemas.openxmlformats.org/drawingml/2006/main">
            <a:r>
              <a:t>• The prism is the metaphor: many different inputs become one stable contract.</a:t>
            </a:r>
          </a:p>
          <a:p xmlns:a="http://schemas.openxmlformats.org/drawingml/2006/main">
            <a:r>
              <a:t>• Avoid presenting ‘22’ as magic; the architectural point is consistency.</a:t>
            </a:r>
          </a:p>
          <a:p xmlns:a="http://schemas.openxmlformats.org/drawingml/2006/main">
            <a:r>
              <a:t>• Transition: the contract matters because its output can become the next reliable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C:/Users/woody/Workspace/vault/wiki/pncli/pncli-overview.md</a:t>
            </a:r>
          </a:p>
          <a:p xmlns:a="http://schemas.openxmlformats.org/drawingml/2006/main">
            <a:r>
              <a:t>- AI-generated visual: OpenAI image generation, created for this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A screenshot is evidence for a person, but usually a poor contract for a workflow.</a:t>
            </a:r>
          </a:p>
          <a:p xmlns:a="http://schemas.openxmlformats.org/drawingml/2006/main">
            <a:r>
              <a:t>• Scraped prose is fragile because structure and meaning are implicit.</a:t>
            </a:r>
          </a:p>
          <a:p xmlns:a="http://schemas.openxmlformats.org/drawingml/2006/main">
            <a:r>
              <a:t>• JSON gives the assistant named fields it can inspect, compare, and pass to the next step.</a:t>
            </a:r>
          </a:p>
          <a:p xmlns:a="http://schemas.openxmlformats.org/drawingml/2006/main">
            <a:r>
              <a:t>• The harness can validate the same fields instead of trusting a confident summary.</a:t>
            </a:r>
          </a:p>
          <a:p xmlns:a="http://schemas.openxmlformats.org/drawingml/2006/main">
            <a:r>
              <a:t>• Errors should use the same predictable shape as successes.</a:t>
            </a:r>
          </a:p>
          <a:p xmlns:a="http://schemas.openxmlformats.org/drawingml/2006/main">
            <a:r>
              <a:t>• Transition: now watch those structured results drive a complete state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C:/Users/woody/Workspace/vault/wiki/pncli/pncli-overview.md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Set up the scenario: a Jira ticket contains a URL and reproduction steps.</a:t>
            </a:r>
          </a:p>
          <a:p xmlns:a="http://schemas.openxmlformats.org/drawingml/2006/main">
            <a:r>
              <a:t>• FIND is read-only: retrieve the ticket and identify the target state.</a:t>
            </a:r>
          </a:p>
          <a:p xmlns:a="http://schemas.openxmlformats.org/drawingml/2006/main">
            <a:r>
              <a:t>• PROVE uses the browser: reproduce the failure, capture the console error, and take a screenshot.</a:t>
            </a:r>
          </a:p>
          <a:p xmlns:a="http://schemas.openxmlformats.org/drawingml/2006/main">
            <a:r>
              <a:t>• GATE is the hinge: stop visibly before the first write.</a:t>
            </a:r>
          </a:p>
          <a:p xmlns:a="http://schemas.openxmlformats.org/drawingml/2006/main">
            <a:r>
              <a:t>• ROUTE writes the evidence back, assigns an owner, and changes the ticket state.</a:t>
            </a:r>
          </a:p>
          <a:p xmlns:a="http://schemas.openxmlformats.org/drawingml/2006/main">
            <a:r>
              <a:t>• Keep a prepared issue and deterministic bad input so the demonstration is repeatable.</a:t>
            </a:r>
          </a:p>
          <a:p xmlns:a="http://schemas.openxmlformats.org/drawingml/2006/main">
            <a:r>
              <a:t>• Transition: zoom in on the moment where observation becomes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C:/Users/woody/Workspace/vault/documents/presentations/demo/demo-ideas.md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Reading happened without ceremony because it did not change the system of record.</a:t>
            </a:r>
          </a:p>
          <a:p xmlns:a="http://schemas.openxmlformats.org/drawingml/2006/main">
            <a:r>
              <a:t>• The proposed write is concrete: one command, one ticket, one visible effect.</a:t>
            </a:r>
          </a:p>
          <a:p xmlns:a="http://schemas.openxmlformats.org/drawingml/2006/main">
            <a:r>
              <a:t>• Read the prompt aloud before approving it; demonstrate what informed consent looks like.</a:t>
            </a:r>
          </a:p>
          <a:p xmlns:a="http://schemas.openxmlformats.org/drawingml/2006/main">
            <a:r>
              <a:t>• Do not choose session-wide approval—the lesson is bounded authority, not convenience.</a:t>
            </a:r>
          </a:p>
          <a:p xmlns:a="http://schemas.openxmlformats.org/drawingml/2006/main">
            <a:r>
              <a:t>• A permission prompt is a product surface, not an interruption to hide.</a:t>
            </a:r>
          </a:p>
          <a:p xmlns:a="http://schemas.openxmlformats.org/drawingml/2006/main">
            <a:r>
              <a:t>• Transition: approval is only meaningful if the action leaves a verifiable receipt.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C:/Users/woody/Workspace/vault/wiki/copilot/copilot-cli-permissions-and-sandboxing.md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Reveal the updated ticket only after the run completes.</a:t>
            </a:r>
          </a:p>
          <a:p xmlns:a="http://schemas.openxmlformats.org/drawingml/2006/main">
            <a:r>
              <a:t>• Trace each row: reported state, observed state, captured evidence, authorized mutation, final state.</a:t>
            </a:r>
          </a:p>
          <a:p xmlns:a="http://schemas.openxmlformats.org/drawingml/2006/main">
            <a:r>
              <a:t>• The screenshot alone is not success; the system of record must reflect what was observed.</a:t>
            </a:r>
          </a:p>
          <a:p xmlns:a="http://schemas.openxmlformats.org/drawingml/2006/main">
            <a:r>
              <a:t>• Another human should be able to reconstruct what happened without trusting the assistant’s narration.</a:t>
            </a:r>
          </a:p>
          <a:p xmlns:a="http://schemas.openxmlformats.org/drawingml/2006/main">
            <a:r>
              <a:t>• This is evaluation in practical form: compare intended, observed, and final states.</a:t>
            </a:r>
          </a:p>
          <a:p xmlns:a="http://schemas.openxmlformats.org/drawingml/2006/main">
            <a:r>
              <a:t>• Transition: sometimes the correct evaluated result is to refuse the requested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Giving an agent a merge tool does not mean every task should end with a merge.</a:t>
            </a:r>
          </a:p>
          <a:p xmlns:a="http://schemas.openxmlformats.org/drawingml/2006/main">
            <a:r>
              <a:t>• Name the independent checks: Sonar, CI, and security findings.</a:t>
            </a:r>
          </a:p>
          <a:p xmlns:a="http://schemas.openxmlformats.org/drawingml/2006/main">
            <a:r>
              <a:t>• The agent’s job is to preserve the conditions for safe completion, not merely maximize task completion.</a:t>
            </a:r>
          </a:p>
          <a:p xmlns:a="http://schemas.openxmlformats.org/drawingml/2006/main">
            <a:r>
              <a:t>• A refusal with evidence is a successful outcome.</a:t>
            </a:r>
          </a:p>
          <a:p xmlns:a="http://schemas.openxmlformats.org/drawingml/2006/main">
            <a:r>
              <a:t>• If time permits, use demo idea 3 and let the audience predict the decision before revealing it.</a:t>
            </a:r>
          </a:p>
          <a:p xmlns:a="http://schemas.openxmlformats.org/drawingml/2006/main">
            <a:r>
              <a:t>• Transition: powerful tools make the origin and behavior of skills a supply-chain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C:/Users/woody/Workspace/vault/documents/presentations/demo/demo-ideas.md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A skill can shape how an assistant uses tools, so installation is part of the execution supply chain.</a:t>
            </a:r>
          </a:p>
          <a:p xmlns:a="http://schemas.openxmlformats.org/drawingml/2006/main">
            <a:r>
              <a:t>• Pin the source: know the repository, publisher, and exact revision.</a:t>
            </a:r>
          </a:p>
          <a:p xmlns:a="http://schemas.openxmlformats.org/drawingml/2006/main">
            <a:r>
              <a:t>• Read the ask: compare requested files, network, and commands with the job the skill claims to perform.</a:t>
            </a:r>
          </a:p>
          <a:p xmlns:a="http://schemas.openxmlformats.org/drawingml/2006/main">
            <a:r>
              <a:t>• Constrain the run: use narrow permissions, sandboxing, and an audit trail.</a:t>
            </a:r>
          </a:p>
          <a:p xmlns:a="http://schemas.openxmlformats.org/drawingml/2006/main">
            <a:r>
              <a:t>• Scanning helps, but provenance and least privilege remain essential.</a:t>
            </a:r>
          </a:p>
          <a:p xmlns:a="http://schemas.openxmlformats.org/drawingml/2006/main">
            <a:r>
              <a:t>• Transition: compress the session into three operating habits.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C:/Users/woody/Workspace/vault/wiki/agent-harness-engineering/agent-skills-marketplaces.md</a:t>
            </a:r>
          </a:p>
          <a:p xmlns:a="http://schemas.openxmlformats.org/drawingml/2006/main">
            <a:r>
              <a:t>- C:/Users/woody/Workspace/vault/wiki/agent-harness-engineering/agent-skills-supply-chain-security.md</a:t>
            </a:r>
          </a:p>
          <a:p xmlns:a="http://schemas.openxmlformats.org/drawingml/2006/main">
            <a:r>
              <a:t>- AI-generated visual: OpenAI image generation, created for this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Let reads flow when the risk is understood and the scope is appropriate.</a:t>
            </a:r>
          </a:p>
          <a:p xmlns:a="http://schemas.openxmlformats.org/drawingml/2006/main">
            <a:r>
              <a:t>• Make writes specific: identify the exact operation, target, and expected effect.</a:t>
            </a:r>
          </a:p>
          <a:p xmlns:a="http://schemas.openxmlformats.org/drawingml/2006/main">
            <a:r>
              <a:t>• Demand a receipt: capture the result in a form another person can inspect.</a:t>
            </a:r>
          </a:p>
          <a:p xmlns:a="http://schemas.openxmlformats.org/drawingml/2006/main">
            <a:r>
              <a:t>• These habits are vendor-independent and apply to terminal agents, workplace assistants, and custom automations.</a:t>
            </a:r>
          </a:p>
          <a:p xmlns:a="http://schemas.openxmlformats.org/drawingml/2006/main">
            <a:r>
              <a:t>• Invite the audience to test one workflow with these three questions this week.</a:t>
            </a:r>
          </a:p>
          <a:p xmlns:a="http://schemas.openxmlformats.org/drawingml/2006/main">
            <a:r>
              <a:t>• Transition: close by turning the three habits into three memorable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Talking points:</a:t>
            </a:r>
          </a:p>
          <a:p xmlns:a="http://schemas.openxmlformats.org/drawingml/2006/main">
            <a:r>
              <a:t>• Ask the three questions slowly and leave space after each one.</a:t>
            </a:r>
          </a:p>
          <a:p xmlns:a="http://schemas.openxmlformats.org/drawingml/2006/main">
            <a:r>
              <a:t>• ‘What did it read?’ identifies context, permissions, and possible exposure.</a:t>
            </a:r>
          </a:p>
          <a:p xmlns:a="http://schemas.openxmlformats.org/drawingml/2006/main">
            <a:r>
              <a:t>• ‘What did it do?’ separates a generated answer from a real state change.</a:t>
            </a:r>
          </a:p>
          <a:p xmlns:a="http://schemas.openxmlformats.org/drawingml/2006/main">
            <a:r>
              <a:t>• ‘Who said yes?’ reveals the policy or person that supplied authority.</a:t>
            </a:r>
          </a:p>
          <a:p xmlns:a="http://schemas.openxmlformats.org/drawingml/2006/main">
            <a:r>
              <a:t>• Invite one example from the room and classify it aloud: read, propose, authorize, act, prove.</a:t>
            </a:r>
          </a:p>
          <a:p xmlns:a="http://schemas.openxmlformats.org/drawingml/2006/main">
            <a:r>
              <a:t>• Close on the final line: good tools make action possible; good harnesses make authority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e207f518649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30f538e5e4d6f" /><Relationship Type="http://schemas.openxmlformats.org/officeDocument/2006/relationships/slideLayout" Target="/ppt/slideLayouts/slideLayout1.xml" Id="R4de5933a57614f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e5933a57614f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8ff729b584994" /><Relationship Type="http://schemas.openxmlformats.org/officeDocument/2006/relationships/image" Target="/ppt/media/image.png" Id="R1105cee81a1e43ca" /><Relationship Type="http://schemas.openxmlformats.org/officeDocument/2006/relationships/notesSlide" Target="/ppt/notesSlides/notesSlide1.xml" Id="R4faba8413b2548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9519bf9b2485b" /><Relationship Type="http://schemas.openxmlformats.org/officeDocument/2006/relationships/notesSlide" Target="/ppt/notesSlides/notesSlide2.xml" Id="R3abb4f8e0fd8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41f7662e24c82" /><Relationship Type="http://schemas.openxmlformats.org/officeDocument/2006/relationships/notesSlide" Target="/ppt/notesSlides/notesSlide3.xml" Id="R4b0424161370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b6deebe23403d" /><Relationship Type="http://schemas.openxmlformats.org/officeDocument/2006/relationships/image" Target="/ppt/media/image2.png" Id="R5b510fda9b114d5e" /><Relationship Type="http://schemas.openxmlformats.org/officeDocument/2006/relationships/notesSlide" Target="/ppt/notesSlides/notesSlide4.xml" Id="Rdd805a021f3440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9407ecc04139" /><Relationship Type="http://schemas.openxmlformats.org/officeDocument/2006/relationships/notesSlide" Target="/ppt/notesSlides/notesSlide5.xml" Id="R9127d3979624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d115d9a3c4cff" /><Relationship Type="http://schemas.openxmlformats.org/officeDocument/2006/relationships/notesSlide" Target="/ppt/notesSlides/notesSlide6.xml" Id="Rd147d1cf6f9647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60bfb37b848fa" /><Relationship Type="http://schemas.openxmlformats.org/officeDocument/2006/relationships/notesSlide" Target="/ppt/notesSlides/notesSlide7.xml" Id="R4aa0410218b541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d4386fb3a4171" /><Relationship Type="http://schemas.openxmlformats.org/officeDocument/2006/relationships/notesSlide" Target="/ppt/notesSlides/notesSlide8.xml" Id="Rf9be77568c0d46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d0b40012e4786" /><Relationship Type="http://schemas.openxmlformats.org/officeDocument/2006/relationships/notesSlide" Target="/ppt/notesSlides/notesSlide9.xml" Id="Rf2c8e4d47eaa41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85a6ac7184e90" /><Relationship Type="http://schemas.openxmlformats.org/officeDocument/2006/relationships/image" Target="/ppt/media/image3.png" Id="Rd7fcb7ac13b442c2" /><Relationship Type="http://schemas.openxmlformats.org/officeDocument/2006/relationships/notesSlide" Target="/ppt/notesSlides/notesSlide10.xml" Id="R0ccbbb34ffda47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e9c91c7294b93" /><Relationship Type="http://schemas.openxmlformats.org/officeDocument/2006/relationships/notesSlide" Target="/ppt/notesSlides/notesSlide11.xml" Id="R79551f4039624a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1d92797c34c9b" /><Relationship Type="http://schemas.openxmlformats.org/officeDocument/2006/relationships/notesSlide" Target="/ppt/notesSlides/notesSlide12.xml" Id="Rb2d7c201b1aa47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5cee81a1e43c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BB791-2E4E-4271-9659-B2A1DC27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64E99-1BEC-44CF-B582-5D121BD7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AI PRIMITIVES ·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A2000-9FAE-48E8-9C27-043304B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THE MOMENT SOFTWARE BECOMES AN ACTOR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81E81-CB72-4DFD-AC15-9033D26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5856"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60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When the assistant
can </a:t>
            </a:r>
            <a:r>
              <a:rPr sz="6000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E4602-72E5-4298-9F74-65C7FF18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rPr>
              <a:t>The model proposes. The harness decides.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rPr>
              <a:t>Tools touch the world.</a:t>
            </a:r>
          </a:p>
        </p:txBody>
      </p:sp>
    </p:spTree>
    <p:extLst>
      <p:ext uri="{BB962C8B-B14F-4D97-AF65-F5344CB8AC3E}">
        <p14:creationId xmlns:p14="http://schemas.microsoft.com/office/powerpoint/2010/main" val="1557139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477F5-52A3-4433-A29A-3216F7F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01 · THE DISTINCTION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1CAB-42D2-4042-A0BF-8635E508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INSTRUCTION ≠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9624C-3769-4435-B929-7D4BCFC0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1ED66-C791-46DE-B35C-CBF529E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ONE LINE CHANGES EVERYTHING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B6DC5-FA1E-475A-B56A-422562A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A skill explains the job.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658F2-16E9-4B41-94A1-F141715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A tool changes the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323A3-D135-41E1-B3D1-02AA72D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503F4-B7E0-4BFE-A7FF-7291B07D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58BF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58BFF"/>
                </a:solidFill>
                <a:latin typeface="Aptos Mono"/>
                <a:ea typeface="Aptos Mono"/>
                <a:cs typeface="Aptos Mono"/>
              </a:rPr>
              <a:t>SKILL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996736-C160-4AD1-ADEF-5ADDF1B8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924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“Review a pull request this way.”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24153-B26C-4EFC-BE2A-BF88001C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BBAD3-3C94-4A43-B6DE-2406793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591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“Approve pull request 42.”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C28C2-7793-43C3-903A-6057895C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HARNESS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66406-860B-43B6-BB40-56828AB7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578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Decides whether that action runs.</a:t>
            </a:r>
          </a:p>
        </p:txBody>
      </p:sp>
    </p:spTree>
    <p:extLst>
      <p:ext uri="{BB962C8B-B14F-4D97-AF65-F5344CB8AC3E}">
        <p14:creationId xmlns:p14="http://schemas.microsoft.com/office/powerpoint/2010/main" val="1049660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992E5D-BB39-4454-BE39-34718FAB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02 · THE CONTROL PLANE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7E4FF-C6D8-4ECF-A372-FAF80959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AGENCY IS ASSEMBLED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BC977-29E5-4A3A-B671-2105D2AB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010EB-B847-4C19-9110-CFE9CB57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THE MODEL NEVER RUNS A COMMAND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EF99E-67A4-4E7F-9FED-B1E65C2D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Every action crosses a boundary.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5D3CD2-290A-4945-BF10-D8B2386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89712-2296-4D2C-964F-FFCEA290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3CE64-2104-4D9E-92C7-19BDE228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BC507-E0A5-465C-8804-3295AFDD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Context enters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BCE9E-CC12-4636-B35A-9B77B226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71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71DB7-341F-4D59-A040-63AA8BE6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051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1C85E-2D25-4B33-98E5-F06244A9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6735E-6990-4503-9111-558C772B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18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PROPOSE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4B8AA-059C-4640-A047-6A92683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A tool request 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ABF0E-7F9A-4A84-AC60-7459E22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71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2625E-1F24-47B5-AB59-3BF5A97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051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7DC4E-F9B6-424F-A220-F3ACFDD9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F60A6-4A70-4B3F-87BB-9FC7622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718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BD6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BD63"/>
                </a:solidFill>
                <a:latin typeface="Aptos Display"/>
                <a:ea typeface="Aptos Display"/>
                <a:cs typeface="Aptos Display"/>
              </a:rPr>
              <a:t>AUTHORIZE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A15DD-1D75-4E02-B705-BCF4ACF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Policy or a person decides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69658-FAD3-4FCE-822C-AB39F804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71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9BF43-4995-40CF-B69B-DCEA725E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051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81590-CC7B-45B9-AA05-597EB03C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FEA3A0-D357-436E-9D63-0BA3D72D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718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762988-73CC-42FA-A057-0309A73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The tool 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27703-769C-4055-99C2-E3929C54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7187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29313E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9E5D6-06D1-409D-9AE7-A0C95AA8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051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67716D-D7BE-4E59-9D27-CAE7F21D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1432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BB773-33A9-4382-9C03-2E16E439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71875"/>
            <a:ext cx="185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69F865-73A0-4782-849C-0E1799A5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719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Evidence returns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2DE8A-48C8-4457-A593-79DBA714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D8D9D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8D9DB"/>
                </a:solidFill>
                <a:latin typeface="Aptos Display"/>
                <a:ea typeface="Aptos Display"/>
                <a:cs typeface="Aptos Display"/>
              </a:rPr>
              <a:t>The safety seam is AUTHORIZE.</a:t>
            </a:r>
          </a:p>
        </p:txBody>
      </p:sp>
    </p:spTree>
    <p:extLst>
      <p:ext uri="{BB962C8B-B14F-4D97-AF65-F5344CB8AC3E}">
        <p14:creationId xmlns:p14="http://schemas.microsoft.com/office/powerpoint/2010/main" val="1973556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10fda9b114d5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92A01-74CB-41C9-B4CA-8BD7672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66CD5-DF68-4510-AC73-113F3A48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03 · THE ENTERPRISE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0882B-EBC6-413A-8543-1734340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PAPERWORK NIGHTMARE CLI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D5CD5-28D6-4171-A4A9-450C8D50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Twenty-two systems.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One contract.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862CA-E4F8-4B25-8E9D-A2045B93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2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rPr>
              <a:t>pncli turns the systems developers already use into structured JSON an assistant can reason over.</a:t>
            </a:r>
          </a:p>
        </p:txBody>
      </p:sp>
    </p:spTree>
    <p:extLst>
      <p:ext uri="{BB962C8B-B14F-4D97-AF65-F5344CB8AC3E}">
        <p14:creationId xmlns:p14="http://schemas.microsoft.com/office/powerpoint/2010/main" val="1650653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F52D7-6C9F-4981-8970-BFDFD9B3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04 · STRUCTURED IN, STRUCTURED 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12D7A-0A5D-4DE4-AEAF-A682E9C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JSON BECOMES THE NEXT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64879-462D-42E7-ADA6-533D93FD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A3F96-339A-4125-9AEA-421301A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WHY THE CONTRACT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D05FB-B9E7-4064-8337-7D8241E2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Not a screenshot.
Not scraped prose.
</a:t>
            </a:r>
            <a:r>
              <a:rPr sz="3750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A result you can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98A24-4F90-412B-9A39-66C9BF0B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90625"/>
            <a:ext cx="49149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41C"/>
          </a:solidFill>
          <a:ln xmlns:a="http://schemas.openxmlformats.org/drawingml/2006/main" w="9525">
            <a:solidFill>
              <a:srgbClr val="3944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118C7-938D-4B6F-B6DC-45FBF941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38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440C8-6457-4DA9-B1BE-18C95511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38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06CD4-1FFD-4AD5-9A77-CCE54586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38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96C79F-5A50-4030-BDD1-552852AD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095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› pncli jira get-issue --key APP-901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{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  "status": "To Do",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  "labels": ["needs-repro"],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  "url": "https://…/checkout"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# inspect → compare → 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E6687-EFC5-4675-A8EF-0655A52F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D4D6D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4D6DA"/>
                </a:solidFill>
                <a:latin typeface="Aptos Display"/>
                <a:ea typeface="Aptos Display"/>
                <a:cs typeface="Aptos Display"/>
              </a:rPr>
              <a:t>Predictable contracts create reliable loops.</a:t>
            </a:r>
          </a:p>
        </p:txBody>
      </p:sp>
    </p:spTree>
    <p:extLst>
      <p:ext uri="{BB962C8B-B14F-4D97-AF65-F5344CB8AC3E}">
        <p14:creationId xmlns:p14="http://schemas.microsoft.com/office/powerpoint/2010/main" val="3368233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BE0876-8BBB-4717-A550-A263050E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05 ·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90BC6-B3E4-4E6C-8065-21D2B038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THE BUG THAT FILES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EEF27-220B-4CB8-87C8-F4C119F5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499BD-4259-4323-BD03-9924044F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WATCH THE STATE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97B7C-E5E8-4B17-921E-DDBED27A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9334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2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A ticket becomes evidence,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2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then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A63B6-270F-4D72-99CE-F7D2D9BB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C4B4A-7541-4855-8232-8994F193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58BF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99BBF-1FA0-4D60-B366-4FF74096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FIND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2671E-3DB8-4D92-9812-CE97DB51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Read the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D9F85-7CE9-4404-A324-B0BE6E23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URL · steps ·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ACFDC-BBCE-430F-BB5E-1ABB37D7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813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CF067-1CB4-4CA1-956C-858A25F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562FB-8E5F-45CA-85BB-14359B56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4A085-05C2-4E5F-A4E6-3EF84BF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2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Drive the 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1FC74-1706-4309-8951-AD434D3C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673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Failure · console · screenshot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5C565-5FFE-4695-B14F-BB1B45B0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0A1BA5-E1D2-4441-9651-B70077D2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874D08-411F-4799-B9B6-4A304B21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BD6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BD63"/>
                </a:solidFill>
                <a:latin typeface="Aptos Display"/>
                <a:ea typeface="Aptos Display"/>
                <a:cs typeface="Aptos Display"/>
              </a:rPr>
              <a:t>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5DCB2-EF76-4B46-814A-D4737392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2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Ask once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94E37-2EE9-46C6-9249-EB561D1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673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Approve the exact write-back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A7070-9A81-4E3F-82ED-42B049F9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333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271F91-105F-444F-A9A3-FE0E640D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D07A4F-02F9-4E83-B5CD-0EF58C18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481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F247D-FB03-48C4-B657-3A1AAD30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2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Update Jira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C9E6B8-217D-4D87-966A-12E50A4F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67300"/>
            <a:ext cx="232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0">
                <a:solidFill>
                  <a:srgbClr val="A8ADB7"/>
                </a:solidFill>
                <a:latin typeface="Aptos Display"/>
                <a:ea typeface="Aptos Display"/>
                <a:cs typeface="Aptos Display"/>
              </a:rPr>
              <a:t>Attach · comment · assign · move</a:t>
            </a:r>
          </a:p>
        </p:txBody>
      </p:sp>
    </p:spTree>
    <p:extLst>
      <p:ext uri="{BB962C8B-B14F-4D97-AF65-F5344CB8AC3E}">
        <p14:creationId xmlns:p14="http://schemas.microsoft.com/office/powerpoint/2010/main" val="2024817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67FC33-4C99-4F44-BEEC-34CE4E24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06 · THE PERMISSION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A2799-42FE-448F-84D2-9E089F81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HUMAN AUTHORITY STAYS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AB74A-EC26-4E2C-97BC-098DE624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05495-3F0F-4B01-A946-F91BC3C7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THE DEMO'S HINGE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FCB15-9BD7-4DDF-BDB6-E428BB1E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Reading was automatic.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Writing is a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516E5-D895-486C-AE60-EFB96550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rPr>
              <a:t>Approve a bounded action—not a vague promise of good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A0EC7-796B-4163-A552-D8E7BDF9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491490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18140E"/>
          </a:solidFill>
          <a:ln xmlns:a="http://schemas.openxmlformats.org/drawingml/2006/main" w="9525">
            <a:solidFill>
              <a:srgbClr val="FFBD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44198-44E7-4532-BB43-08B4DDF8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85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COPILOT WANTS TO 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255DC-D1BD-48BA-9C34-0601B399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4787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7F4EC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7F4EC"/>
                </a:solidFill>
                <a:latin typeface="Aptos Mono"/>
                <a:ea typeface="Aptos Mono"/>
                <a:cs typeface="Aptos Mono"/>
              </a:rPr>
              <a:t>pncli jira add-comment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7F4EC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7F4EC"/>
                </a:solidFill>
                <a:latin typeface="Aptos Mono"/>
                <a:ea typeface="Aptos Mono"/>
                <a:cs typeface="Aptos Mono"/>
              </a:rPr>
              <a:t>--key APP-901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08765-08FE-4EC4-A3F1-4716BCB5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8612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2115"/>
          </a:solidFill>
          <a:ln xmlns:a="http://schemas.openxmlformats.org/drawingml/2006/main" w="9525">
            <a:solidFill>
              <a:srgbClr val="FFBD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28D1F6-56AD-41A9-ABFE-3D130AED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29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1 · Run this command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164BD-5A20-4550-9F65-C3BCC56B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7192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41C"/>
          </a:solidFill>
          <a:ln xmlns:a="http://schemas.openxmlformats.org/drawingml/2006/main" w="9525">
            <a:solidFill>
              <a:srgbClr val="29313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536630-6A51-4DEF-9F00-230E4E3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148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2 · Approve this tool for the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43603-0579-49F5-BC18-742B3E48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57725"/>
            <a:ext cx="4191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141C"/>
          </a:solidFill>
          <a:ln xmlns:a="http://schemas.openxmlformats.org/drawingml/2006/main" w="9525">
            <a:solidFill>
              <a:srgbClr val="2931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FCC13-36B6-49AC-A5D0-928617BE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8006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3 · No, change the approach</a:t>
            </a:r>
          </a:p>
        </p:txBody>
      </p:sp>
    </p:spTree>
    <p:extLst>
      <p:ext uri="{BB962C8B-B14F-4D97-AF65-F5344CB8AC3E}">
        <p14:creationId xmlns:p14="http://schemas.microsoft.com/office/powerpoint/2010/main" val="572058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A85DA7-7BBB-446E-97EC-418D2AD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07 · THE RECEIPT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62304-684E-4EDA-83F5-D12F91E8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PROOF, NOT VIBES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5FE1D-4D3F-48BB-A1EF-BC2DEC4D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5141E-1670-4A15-810B-CC19A211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HOW WE KNOW IT WORKED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F6B74-CD44-4FF6-BA40-FC1AC6E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28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The result leaves a trail another human can inspect.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1FE98B-E171-494E-A8E2-A090CDD2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DFC8D-89B5-4AB5-9C59-1BDC6774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REPORTED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D38B0-FDE0-4FD8-9A63-E81175DA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670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To Do · needs-repro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F2AA3-D9E1-4DE1-B719-5BD99949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830AC-C833-4427-8AEE-F1D1BB7F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OBSERVED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8EED7-010E-40B4-A67A-9C237569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385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FF6477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6477"/>
                </a:solidFill>
                <a:latin typeface="Aptos Mono"/>
                <a:ea typeface="Aptos Mono"/>
                <a:cs typeface="Aptos Mono"/>
              </a:rPr>
              <a:t>Checkout fails · console error captured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29F5A-7376-4D97-91A8-C0F9B70C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46883-DD63-4316-8194-61F2C70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30D069-D840-4BD3-9DC7-A7D83AF8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100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Screenshot + exact reproduction note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DBD5B-C159-4D4D-93C1-D3EC9F5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0DAA63-7AC0-4C50-84B5-4491B2A2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AUTHORIZED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421C4-7CB2-4266-93BF-6C1CB29E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815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Comment · assignment · transition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59441-6C92-423E-8C81-35988E9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7C3EB-26D9-4EA2-97D2-D49641D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FINAL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80ECC-943C-4847-A969-06AE2394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53050"/>
            <a:ext cx="824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In Progress · owner set</a:t>
            </a:r>
          </a:p>
        </p:txBody>
      </p:sp>
    </p:spTree>
    <p:extLst>
      <p:ext uri="{BB962C8B-B14F-4D97-AF65-F5344CB8AC3E}">
        <p14:creationId xmlns:p14="http://schemas.microsoft.com/office/powerpoint/2010/main" val="11686459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70BC4-30A6-4E9B-AB5A-38D49BC8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08 ·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C6F35-06EF-4140-AD6D-B2B4E1D3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REFUSAL CAN BE THE RIGHT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B03A9-D2D0-4B09-9982-F16FFBC4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A1C31-1731-471E-808E-99EF1DE1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THE STRONGER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DDC11-3B61-4FD6-B381-FC06674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Give it the merge button.
Then watch it </a:t>
            </a:r>
            <a:r>
              <a:rPr sz="4650" b="1">
                <a:solidFill>
                  <a:srgbClr val="FF6477"/>
                </a:solidFill>
                <a:latin typeface="Aptos Display"/>
                <a:ea typeface="Aptos Display"/>
                <a:cs typeface="Aptos Display"/>
              </a:rPr>
              <a:t>refuse</a:t>
            </a:r>
            <a:r>
              <a: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1BBAF-1398-4988-97A4-77FF278B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95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4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4245F8-731E-4836-A9E1-EE795508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971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D2D4D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D2D4D9"/>
                </a:solidFill>
                <a:latin typeface="Aptos Display"/>
                <a:ea typeface="Aptos Display"/>
                <a:cs typeface="Aptos Display"/>
              </a:rPr>
              <a:t>Sonar fails. CI is red. Security has an open finding.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D2D4D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D2D4D9"/>
                </a:solidFill>
                <a:latin typeface="Aptos Display"/>
                <a:ea typeface="Aptos Display"/>
                <a:cs typeface="Aptos Display"/>
              </a:rPr>
              <a:t>A useful agent preserves the conditions under which completion is allowed.</a:t>
            </a:r>
          </a:p>
        </p:txBody>
      </p:sp>
    </p:spTree>
    <p:extLst>
      <p:ext uri="{BB962C8B-B14F-4D97-AF65-F5344CB8AC3E}">
        <p14:creationId xmlns:p14="http://schemas.microsoft.com/office/powerpoint/2010/main" val="20794652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cb7ac13b442c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A6F95-2434-4652-95AE-D51B658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9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CCFC6-31C6-47D3-A4AC-051140A0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09 · SKILLS MARKETPLACES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3E15D-B2AA-4488-8D47-832C1BEE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POWER NEEDS PROVENANCE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C67B-7C4A-48FC-9D76-F48C9BE2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857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A skill that steers tools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367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is part of your supply chain.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F9F97-AC4F-4BE8-AC98-BB5AC2D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09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D1D4DA"/>
                </a:solidFill>
                <a:latin typeface="Aptos Display"/>
                <a:ea typeface="Aptos Display"/>
                <a:cs typeface="Aptos Display"/>
              </a:rPr>
              <a:t>Pin the source. Read the ask. Constrain the run.</a:t>
            </a:r>
          </a:p>
        </p:txBody>
      </p:sp>
    </p:spTree>
    <p:extLst>
      <p:ext uri="{BB962C8B-B14F-4D97-AF65-F5344CB8AC3E}">
        <p14:creationId xmlns:p14="http://schemas.microsoft.com/office/powerpoint/2010/main" val="570421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65206-3F49-4DB7-B133-335F1FD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10 · OPERATING PRINCIPLES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30467-1729-4E63-853F-4906A0B2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MAKE AUTHORITY LEGIBLE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9DAFF-9301-42BA-BCA3-F521E7F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6B686-546F-45E9-8BEB-B3BA70A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THREE HABITS TO TAKE BACK TO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370D5F-5588-46E1-8E1C-1DE304B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191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Let reads flow.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Make writes specific.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Demand a receipt.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15B00-9E31-4DA2-9D99-F45475B4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8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42FE9-B172-4216-981A-F300BEC4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A58B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A58BFF"/>
                </a:solidFill>
                <a:latin typeface="Aptos Mono"/>
                <a:ea typeface="Aptos Mono"/>
                <a:cs typeface="Aptos Mono"/>
              </a:rPr>
              <a:t>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BF9CF-1266-4C04-85A7-E20961AE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530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FEA4C-E78A-49EE-A27F-7D92C467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19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FBD6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BD63"/>
                </a:solidFill>
                <a:latin typeface="Aptos Mono"/>
                <a:ea typeface="Aptos Mono"/>
                <a:cs typeface="Aptos Mono"/>
              </a:rPr>
              <a:t>AUTHORIZE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E4DF-74F9-45F4-A3B5-B7E8BC1C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CE874-D0B3-4A0C-A3B3-46660F6F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197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PROVE</a:t>
            </a:r>
          </a:p>
        </p:txBody>
      </p:sp>
    </p:spTree>
    <p:extLst>
      <p:ext uri="{BB962C8B-B14F-4D97-AF65-F5344CB8AC3E}">
        <p14:creationId xmlns:p14="http://schemas.microsoft.com/office/powerpoint/2010/main" val="20636160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4053E-70AE-446D-90B9-A0914C86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11 · TAKE IT BACK TO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854DC-5C72-45D6-B60A-27339BCF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THE QUESTION TO KEEP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E8D12-FC53-48CC-8718-03182FD1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8ADB7"/>
                </a:solidFill>
                <a:latin typeface="Aptos Mono"/>
                <a:ea typeface="Aptos Mono"/>
                <a:cs typeface="Aptos Mono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7D696-F3F5-455B-992F-DCE138B3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48E5D1"/>
                </a:solidFill>
                <a:latin typeface="Aptos Mono"/>
                <a:ea typeface="Aptos Mono"/>
                <a:cs typeface="Aptos Mono"/>
              </a:rPr>
              <a:t>CLOSE WHERE WE OPENED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3F7D0-FB94-421A-879F-9037A8A9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What did it </a:t>
            </a:r>
            <a:r>
              <a:rPr sz="4425" b="1">
                <a:solidFill>
                  <a:srgbClr val="48E5D1"/>
                </a:solidFill>
                <a:latin typeface="Aptos Display"/>
                <a:ea typeface="Aptos Display"/>
                <a:cs typeface="Aptos Display"/>
              </a:rPr>
              <a:t>read</a:t>
            </a: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9C241-4F52-4C15-8948-A650AED5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What did it </a:t>
            </a:r>
            <a:r>
              <a:rPr sz="4425" b="1">
                <a:solidFill>
                  <a:srgbClr val="A58BFF"/>
                </a:solidFill>
                <a:latin typeface="Aptos Display"/>
                <a:ea typeface="Aptos Display"/>
                <a:cs typeface="Aptos Display"/>
              </a:rPr>
              <a:t>do</a:t>
            </a: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A0ACB-D73D-4D5D-8E0C-FC95D26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425" b="0">
                <a:solidFill>
                  <a:srgbClr val="F7F4EC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Who said </a:t>
            </a:r>
            <a:r>
              <a:rPr sz="4425" b="1">
                <a:solidFill>
                  <a:srgbClr val="FFBD63"/>
                </a:solidFill>
                <a:latin typeface="Aptos Display"/>
                <a:ea typeface="Aptos Display"/>
                <a:cs typeface="Aptos Display"/>
              </a:rPr>
              <a:t>yes</a:t>
            </a:r>
            <a:r>
              <a:rPr sz="4425" b="1">
                <a:solidFill>
                  <a:srgbClr val="F7F4EC"/>
                </a:solidFill>
                <a:latin typeface="Aptos Display"/>
                <a:ea typeface="Aptos Display"/>
                <a:cs typeface="Aptos Display"/>
              </a:rPr>
              <a:t>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FEF92-14D1-4F2E-998A-60D44BE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E5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8B725-2A7E-40EB-86FF-B48E3452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0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3D5D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D3D5D9"/>
                </a:solidFill>
                <a:latin typeface="Aptos Display"/>
                <a:ea typeface="Aptos Display"/>
                <a:cs typeface="Aptos Display"/>
              </a:rPr>
              <a:t>Good tools make action possible.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D3D5D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0">
                <a:solidFill>
                  <a:srgbClr val="D3D5D9"/>
                </a:solidFill>
                <a:latin typeface="Aptos Display"/>
                <a:ea typeface="Aptos Display"/>
                <a:cs typeface="Aptos Display"/>
              </a:rPr>
              <a:t>Good harnesses make authority visible.</a:t>
            </a:r>
          </a:p>
        </p:txBody>
      </p:sp>
    </p:spTree>
    <p:extLst>
      <p:ext uri="{BB962C8B-B14F-4D97-AF65-F5344CB8AC3E}">
        <p14:creationId xmlns:p14="http://schemas.microsoft.com/office/powerpoint/2010/main" val="2065841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2026-08-19T15:06:15.1330000Z</dcterms:created>
  <dcterms:modified xsi:type="dcterms:W3CDTF">2026-08-19T15:06:15.1330000Z</dcterms:modified>
</coreProperties>
</file>