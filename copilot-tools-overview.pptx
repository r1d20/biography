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8" r:id="rId5"/>
    <p:sldId id="259" r:id="rId6"/>
    <p:sldId id="260" r:id="rId7"/>
    <p:sldId id="261" r:id="rId8"/>
    <p:sldId id="262" r:id="rId9"/>
    <p:sldId id="269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0067" autoAdjust="0"/>
  </p:normalViewPr>
  <p:slideViewPr>
    <p:cSldViewPr snapToGrid="0" snapToObjects="1">
      <p:cViewPr varScale="1">
        <p:scale>
          <a:sx n="96" d="100"/>
          <a:sy n="96" d="100"/>
        </p:scale>
        <p:origin x="47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4437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Today </a:t>
            </a:r>
          </a:p>
          <a:p>
            <a:endParaRPr lang="en-US" dirty="0"/>
          </a:p>
          <a:p>
            <a:r>
              <a:rPr lang="en-US" dirty="0" err="1"/>
              <a:t>Im</a:t>
            </a:r>
            <a:r>
              <a:rPr lang="en-US" dirty="0"/>
              <a:t> going to introduce the topic of Tools</a:t>
            </a:r>
          </a:p>
          <a:p>
            <a:endParaRPr lang="en-US" dirty="0"/>
          </a:p>
          <a:p>
            <a:r>
              <a:rPr lang="en-US" dirty="0"/>
              <a:t>And what roles they play in an agentic world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How many tabs did you open today</a:t>
            </a:r>
          </a:p>
          <a:p>
            <a:endParaRPr lang="en-US" dirty="0"/>
          </a:p>
          <a:p>
            <a:r>
              <a:rPr lang="en-US" dirty="0"/>
              <a:t>Just to answer one question?</a:t>
            </a:r>
          </a:p>
          <a:p>
            <a:endParaRPr lang="en-US" dirty="0"/>
          </a:p>
          <a:p>
            <a:r>
              <a:rPr lang="en-US" dirty="0"/>
              <a:t>By the end of this talk,</a:t>
            </a:r>
          </a:p>
          <a:p>
            <a:endParaRPr lang="en-US" dirty="0"/>
          </a:p>
          <a:p>
            <a:r>
              <a:rPr lang="en-US" dirty="0"/>
              <a:t>You’ll never have 6 browsers with a total </a:t>
            </a:r>
            <a:r>
              <a:rPr lang="en-US"/>
              <a:t>of </a:t>
            </a:r>
            <a:endParaRPr lang="en-US" dirty="0"/>
          </a:p>
          <a:p>
            <a:endParaRPr lang="en-US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WHAT IS AN AGENT (2 min). Plain-language framing before the metaphor.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B2C4B-7152-3F2A-6478-896BE4F60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326152-48A0-02B1-78D3-5266EA2471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CF7203-8AB2-574B-402E-0DDBDF1815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Meet Today’s model for our Copilot Agent – Mr. Potato Head. </a:t>
            </a:r>
          </a:p>
          <a:p>
            <a:endParaRPr lang="en-US" dirty="0"/>
          </a:p>
          <a:p>
            <a:r>
              <a:rPr lang="en-US" dirty="0"/>
              <a:t>So without tools…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99A59-4C62-B99F-538A-2BB9D1519E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8362059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Copilot is just a bare potato.</a:t>
            </a:r>
          </a:p>
          <a:p>
            <a:endParaRPr lang="en-US" dirty="0"/>
          </a:p>
          <a:p>
            <a:r>
              <a:rPr lang="en-US" dirty="0"/>
              <a:t>A smart potato! But a potato nonetheless.</a:t>
            </a:r>
          </a:p>
          <a:p>
            <a:endParaRPr lang="en-US" dirty="0"/>
          </a:p>
          <a:p>
            <a:r>
              <a:rPr lang="en-US" dirty="0"/>
              <a:t>And its our jobs, </a:t>
            </a:r>
          </a:p>
          <a:p>
            <a:endParaRPr lang="en-US" dirty="0"/>
          </a:p>
          <a:p>
            <a:r>
              <a:rPr lang="en-US" dirty="0"/>
              <a:t>To assemble </a:t>
            </a:r>
            <a:r>
              <a:rPr lang="en-US" dirty="0" err="1"/>
              <a:t>Mr</a:t>
            </a:r>
            <a:r>
              <a:rPr lang="en-US" dirty="0"/>
              <a:t> Potato Head, </a:t>
            </a:r>
          </a:p>
          <a:p>
            <a:endParaRPr lang="en-US" dirty="0"/>
          </a:p>
          <a:p>
            <a:r>
              <a:rPr lang="en-US" dirty="0"/>
              <a:t>By providing it the tools it needs</a:t>
            </a:r>
          </a:p>
          <a:p>
            <a:endParaRPr lang="en-US" dirty="0"/>
          </a:p>
          <a:p>
            <a:r>
              <a:rPr lang="en-US" dirty="0"/>
              <a:t> to interact with the world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Now, without tools, </a:t>
            </a:r>
          </a:p>
          <a:p>
            <a:endParaRPr lang="en-US" dirty="0"/>
          </a:p>
          <a:p>
            <a:r>
              <a:rPr lang="en-US" dirty="0"/>
              <a:t>what can it do?</a:t>
            </a:r>
          </a:p>
          <a:p>
            <a:endParaRPr lang="en-US" dirty="0"/>
          </a:p>
          <a:p>
            <a:r>
              <a:rPr lang="en-US" dirty="0"/>
              <a:t>And what are its current limitations?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dirty="0" err="1"/>
              <a:t>pncli</a:t>
            </a:r>
            <a:r>
              <a:rPr lang="en-US" dirty="0"/>
              <a:t> gives Copilot its arms</a:t>
            </a:r>
          </a:p>
          <a:p>
            <a:endParaRPr lang="en-US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Redbull</a:t>
            </a:r>
            <a:r>
              <a:rPr lang="en-US" dirty="0"/>
              <a:t> would give it wings?!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Lead into the next slide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4D8DB-D51E-A0FB-3BDB-92D54CED0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BEA512-62D5-6A4B-7AB1-91D88D8714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42279D-F3AD-7222-5DE1-A6AF405028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Now what if we can give Copilot</a:t>
            </a:r>
          </a:p>
          <a:p>
            <a:endParaRPr lang="en-US" dirty="0"/>
          </a:p>
          <a:p>
            <a:r>
              <a:rPr lang="en-US" dirty="0"/>
              <a:t>I mean</a:t>
            </a:r>
          </a:p>
          <a:p>
            <a:endParaRPr lang="en-US" dirty="0"/>
          </a:p>
          <a:p>
            <a:r>
              <a:rPr lang="en-US" dirty="0" err="1"/>
              <a:t>Mr</a:t>
            </a:r>
            <a:r>
              <a:rPr lang="en-US" dirty="0"/>
              <a:t> Potato Head</a:t>
            </a:r>
          </a:p>
          <a:p>
            <a:endParaRPr lang="en-US" dirty="0"/>
          </a:p>
          <a:p>
            <a:r>
              <a:rPr lang="en-US" dirty="0"/>
              <a:t>Eyes?</a:t>
            </a:r>
          </a:p>
          <a:p>
            <a:endParaRPr lang="en-US" dirty="0"/>
          </a:p>
          <a:p>
            <a:r>
              <a:rPr lang="en-US" dirty="0"/>
              <a:t>I bet he would really appreciate a pair of eyes.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A65BC2-C766-5C14-F05E-9B1B111794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842690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Playwright gives access to a browser</a:t>
            </a:r>
          </a:p>
          <a:p>
            <a:endParaRPr lang="en-US" dirty="0"/>
          </a:p>
          <a:p>
            <a:r>
              <a:rPr lang="en-US" dirty="0"/>
              <a:t>And an API to interact with that browser.</a:t>
            </a:r>
          </a:p>
          <a:p>
            <a:endParaRPr lang="en-US" dirty="0"/>
          </a:p>
          <a:p>
            <a:r>
              <a:rPr lang="en-US" dirty="0"/>
              <a:t>This allows Copilot</a:t>
            </a:r>
          </a:p>
          <a:p>
            <a:endParaRPr lang="en-US" dirty="0"/>
          </a:p>
          <a:p>
            <a:r>
              <a:rPr lang="en-US" dirty="0"/>
              <a:t>To view its changes in real time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LIVE DEMO: PLAYWRIGHT CLI (6 min). Switch to browser/terminal. Fill in the real scenario before the talk. Fallback screenshot in reserve.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ASSEMBLED POTATO (2 min). Recap: brain + arms + eyes. Tools compose.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 THIS MATTERS + GETTING STARTED (2 min). End on the Monday-morning reframe.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CLOSING. Q&amp;A happens here or after -- no dedicated slide time 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412480" y="-1828800"/>
            <a:ext cx="6583680" cy="6583680"/>
          </a:xfrm>
          <a:prstGeom prst="ellipse">
            <a:avLst/>
          </a:prstGeom>
          <a:solidFill>
            <a:srgbClr val="1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92640" y="2377440"/>
            <a:ext cx="4937760" cy="4937760"/>
          </a:xfrm>
          <a:prstGeom prst="ellipse">
            <a:avLst/>
          </a:prstGeom>
          <a:solidFill>
            <a:srgbClr val="13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960120"/>
            <a:ext cx="96012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 dirty="0">
                <a:solidFill>
                  <a:srgbClr val="00C2A8"/>
                </a:solidFill>
                <a:latin typeface="Segoe UI"/>
              </a:rPr>
              <a:t>A G E N T   </a:t>
            </a:r>
            <a:r>
              <a:rPr sz="1300" b="1" i="0" dirty="0" err="1">
                <a:solidFill>
                  <a:srgbClr val="00C2A8"/>
                </a:solidFill>
                <a:latin typeface="Segoe UI"/>
              </a:rPr>
              <a:t>T</a:t>
            </a:r>
            <a:r>
              <a:rPr sz="1300" b="1" i="0" dirty="0">
                <a:solidFill>
                  <a:srgbClr val="00C2A8"/>
                </a:solidFill>
                <a:latin typeface="Segoe UI"/>
              </a:rPr>
              <a:t> O </a:t>
            </a:r>
            <a:r>
              <a:rPr sz="1300" b="1" i="0" dirty="0" err="1">
                <a:solidFill>
                  <a:srgbClr val="00C2A8"/>
                </a:solidFill>
                <a:latin typeface="Segoe UI"/>
              </a:rPr>
              <a:t>O</a:t>
            </a:r>
            <a:r>
              <a:rPr sz="1300" b="1" i="0" dirty="0">
                <a:solidFill>
                  <a:srgbClr val="00C2A8"/>
                </a:solidFill>
                <a:latin typeface="Segoe UI"/>
              </a:rPr>
              <a:t> L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058400" cy="932688"/>
          </a:xfrm>
          <a:prstGeom prst="rect">
            <a:avLst/>
          </a:prstGeom>
          <a:noFill/>
        </p:spPr>
        <p:txBody>
          <a:bodyPr wrap="square" lIns="0" tIns="0" rIns="0" bIns="0">
            <a:normAutofit lnSpcReduction="1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0" b="1" i="0">
                <a:solidFill>
                  <a:srgbClr val="FFFFFF"/>
                </a:solidFill>
                <a:latin typeface="Segoe UI"/>
              </a:rPr>
              <a:t>Giving Copilot Its Senses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C2A8"/>
                </a:solidFill>
                <a:latin typeface="Segoe UI"/>
              </a:rPr>
              <a:t>How tools turn an AI into an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767328"/>
            <a:ext cx="6949440" cy="2677656"/>
          </a:xfrm>
          <a:prstGeom prst="roundRect">
            <a:avLst>
              <a:gd name="adj" fmla="val 5000"/>
            </a:avLst>
          </a:prstGeom>
          <a:solidFill>
            <a:srgbClr val="1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1051560" y="3842512"/>
            <a:ext cx="6492240" cy="2677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1400"/>
              </a:spcBef>
              <a:spcAft>
                <a:spcPts val="300"/>
              </a:spcAft>
            </a:pPr>
            <a:r>
              <a:rPr sz="1400" b="0" i="1" dirty="0">
                <a:solidFill>
                  <a:srgbClr val="6E8299"/>
                </a:solidFill>
                <a:latin typeface="Consolas"/>
              </a:rPr>
              <a:t># two tools, two new senses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 dirty="0">
                <a:solidFill>
                  <a:srgbClr val="00C2A8"/>
                </a:solidFill>
                <a:latin typeface="Consolas"/>
              </a:rPr>
              <a:t>$ </a:t>
            </a:r>
            <a:r>
              <a:rPr sz="1400" b="0" i="0" dirty="0" err="1">
                <a:solidFill>
                  <a:srgbClr val="E8EFF7"/>
                </a:solidFill>
                <a:latin typeface="Consolas"/>
              </a:rPr>
              <a:t>pncli</a:t>
            </a:r>
            <a:r>
              <a:rPr sz="1400" b="0" i="0" dirty="0">
                <a:solidFill>
                  <a:srgbClr val="E8EFF7"/>
                </a:solidFill>
                <a:latin typeface="Consolas"/>
              </a:rPr>
              <a:t> </a:t>
            </a:r>
            <a:r>
              <a:rPr lang="en-US" sz="1400" b="0" i="0" dirty="0">
                <a:solidFill>
                  <a:srgbClr val="E8EFF7"/>
                </a:solidFill>
                <a:latin typeface="Consolas"/>
              </a:rPr>
              <a:t>config </a:t>
            </a:r>
            <a:r>
              <a:rPr lang="en-US" sz="1400" b="0" i="0" dirty="0" err="1">
                <a:solidFill>
                  <a:srgbClr val="E8EFF7"/>
                </a:solidFill>
                <a:latin typeface="Consolas"/>
              </a:rPr>
              <a:t>init</a:t>
            </a:r>
            <a:endParaRPr lang="en-US" sz="1400" b="0" i="0" dirty="0">
              <a:solidFill>
                <a:srgbClr val="E8EFF7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 dirty="0">
                <a:solidFill>
                  <a:srgbClr val="00C2A8"/>
                </a:solidFill>
                <a:latin typeface="Consolas"/>
              </a:rPr>
              <a:t>$ </a:t>
            </a:r>
            <a:r>
              <a:rPr sz="1400" b="0" i="0" dirty="0">
                <a:solidFill>
                  <a:srgbClr val="E8EFF7"/>
                </a:solidFill>
                <a:latin typeface="Consolas"/>
              </a:rPr>
              <a:t>playwright-cli </a:t>
            </a:r>
            <a:r>
              <a:rPr lang="en-US" sz="1400" b="0" i="0" dirty="0">
                <a:solidFill>
                  <a:srgbClr val="E8EFF7"/>
                </a:solidFill>
                <a:latin typeface="Consolas"/>
              </a:rPr>
              <a:t>click e15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endParaRPr lang="en-US" sz="1400" dirty="0">
              <a:solidFill>
                <a:srgbClr val="E8EFF7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endParaRPr lang="en-US" sz="1400" dirty="0">
              <a:solidFill>
                <a:srgbClr val="E8EFF7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lang="en-US" sz="1400" i="1" dirty="0">
                <a:solidFill>
                  <a:srgbClr val="6E8299"/>
                </a:solidFill>
                <a:latin typeface="Consolas"/>
              </a:rPr>
              <a:t># watch your productivity skyrocket</a:t>
            </a:r>
            <a:endParaRPr lang="en-US" sz="1400" dirty="0">
              <a:solidFill>
                <a:srgbClr val="E8EFF7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lang="en-US" sz="1400" dirty="0">
                <a:solidFill>
                  <a:srgbClr val="00C2A8"/>
                </a:solidFill>
                <a:latin typeface="Consolas"/>
              </a:rPr>
              <a:t>$ </a:t>
            </a:r>
            <a:r>
              <a:rPr lang="en-US" sz="1400" dirty="0">
                <a:solidFill>
                  <a:srgbClr val="E8EFF7"/>
                </a:solidFill>
                <a:latin typeface="Consolas"/>
              </a:rPr>
              <a:t>copilot –p “Get all the issues currently assigned to me in Jira and prioritize them for me.”</a:t>
            </a:r>
          </a:p>
          <a:p>
            <a:pPr>
              <a:spcAft>
                <a:spcPts val="300"/>
              </a:spcAft>
            </a:pPr>
            <a:r>
              <a:rPr lang="en-US" sz="1400" dirty="0">
                <a:solidFill>
                  <a:srgbClr val="00C2A8"/>
                </a:solidFill>
                <a:latin typeface="Consolas"/>
              </a:rPr>
              <a:t>$ </a:t>
            </a:r>
            <a:r>
              <a:rPr lang="en-US" sz="1400" dirty="0">
                <a:solidFill>
                  <a:srgbClr val="E8EFF7"/>
                </a:solidFill>
                <a:latin typeface="Consolas"/>
              </a:rPr>
              <a:t>copilot –p “Show me all my PRs with a failed build and check the pipeline for the reason why”</a:t>
            </a:r>
          </a:p>
          <a:p>
            <a:pPr>
              <a:spcAft>
                <a:spcPts val="300"/>
              </a:spcAft>
            </a:pPr>
            <a:endParaRPr lang="en-US" sz="1400" dirty="0">
              <a:solidFill>
                <a:srgbClr val="E8EFF7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60152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Segoe UI"/>
              </a:rPr>
              <a:t>How many tabs did you open today
just to answer one question?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77639"/>
            <a:ext cx="1036015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 dirty="0">
                <a:solidFill>
                  <a:srgbClr val="00C2A8"/>
                </a:solidFill>
                <a:latin typeface="Segoe UI"/>
              </a:rPr>
              <a:t>By the end of this talk, Copilot will do some of that for you — live.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457200" cy="64008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C2A8"/>
                </a:solidFill>
                <a:latin typeface="Segoe UI"/>
              </a:rPr>
              <a:t>THE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217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8CA0"/>
                </a:solidFill>
                <a:latin typeface="Segoe U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A2433"/>
                </a:solidFill>
                <a:latin typeface="Segoe UI"/>
              </a:rPr>
              <a:t>A chatbot tells you. An agent does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A6B7E"/>
                </a:solidFill>
                <a:latin typeface="Segoe UI"/>
              </a:rPr>
              <a:t>Not a sci-fi robot — just an AI that can take the next step itself.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5455767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82296" cy="219456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2478024"/>
            <a:ext cx="4943703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2433"/>
                </a:solidFill>
                <a:latin typeface="Segoe UI"/>
              </a:rPr>
              <a:t>Chatbot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898648"/>
            <a:ext cx="4943703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A6B7E"/>
                </a:solidFill>
                <a:latin typeface="Segoe UI"/>
              </a:rPr>
              <a:t>Answers a question in a chat window. You read the answer, then go do the work yourself — open the ticket, click the button, write the code.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7287" y="2331720"/>
            <a:ext cx="5455767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87287" y="2331720"/>
            <a:ext cx="82296" cy="219456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3319" y="2478024"/>
            <a:ext cx="4943703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2433"/>
                </a:solidFill>
                <a:latin typeface="Segoe UI"/>
              </a:rPr>
              <a:t>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3319" y="2898648"/>
            <a:ext cx="4943703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A6B7E"/>
                </a:solidFill>
                <a:latin typeface="Segoe UI"/>
              </a:rPr>
              <a:t>Reads the ticket. Opens the page. Makes the change. It still needs judgment from you — but the doing is no longer only yours.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B7E"/>
                </a:solidFill>
                <a:latin typeface="Segoe UI"/>
              </a:rPr>
              <a:t>An agent's abilities aren't magic — </a:t>
            </a:r>
            <a:r>
              <a:rPr sz="1400" b="1" i="0">
                <a:solidFill>
                  <a:srgbClr val="1A2433"/>
                </a:solidFill>
                <a:latin typeface="Segoe UI"/>
              </a:rPr>
              <a:t>they're exactly what it's plugged into.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F1777-E208-9D43-B9F4-D6410B457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3E2353-516E-5DA8-C802-613854BBA19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86A3C1-C069-CC68-3CF3-C810165F6F95}"/>
              </a:ext>
            </a:extLst>
          </p:cNvPr>
          <p:cNvSpPr/>
          <p:nvPr/>
        </p:nvSpPr>
        <p:spPr>
          <a:xfrm>
            <a:off x="548640" y="502920"/>
            <a:ext cx="457200" cy="64008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7997BC-AC77-2A82-E192-B6010907FE90}"/>
              </a:ext>
            </a:extLst>
          </p:cNvPr>
          <p:cNvSpPr txBox="1"/>
          <p:nvPr/>
        </p:nvSpPr>
        <p:spPr>
          <a:xfrm>
            <a:off x="548640" y="62179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C2A8"/>
                </a:solidFill>
                <a:latin typeface="Segoe UI"/>
              </a:rPr>
              <a:t>THE METAPHOR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2359BA-F3B4-50F4-0FF5-A8A6745A477A}"/>
              </a:ext>
            </a:extLst>
          </p:cNvPr>
          <p:cNvSpPr txBox="1"/>
          <p:nvPr/>
        </p:nvSpPr>
        <p:spPr>
          <a:xfrm>
            <a:off x="11155680" y="6217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 dirty="0">
                <a:solidFill>
                  <a:srgbClr val="7C8CA0"/>
                </a:solidFill>
                <a:latin typeface="Segoe UI"/>
              </a:rPr>
              <a:t>04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F5DDF8-0FA0-E78E-18CE-07C40A8158F6}"/>
              </a:ext>
            </a:extLst>
          </p:cNvPr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Meet today's model for an agent: Mr. Potato Head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42884B-31FD-F43D-4B03-1522C6F265DC}"/>
              </a:ext>
            </a:extLst>
          </p:cNvPr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5D2E0"/>
                </a:solidFill>
                <a:latin typeface="Segoe UI"/>
              </a:rPr>
              <a:t>Tools aren't features bolted on for fun — </a:t>
            </a:r>
            <a:r>
              <a:rPr sz="1400" b="1" i="0">
                <a:solidFill>
                  <a:srgbClr val="FFB454"/>
                </a:solidFill>
                <a:latin typeface="Segoe UI"/>
              </a:rPr>
              <a:t>they’re literally how an agent perceives and acts.</a:t>
            </a:r>
          </a:p>
        </p:txBody>
      </p:sp>
      <p:pic>
        <p:nvPicPr>
          <p:cNvPr id="8" name="Captain potato illustration" descr="Fully assembled potato character wearing a pilot captain hat">
            <a:extLst>
              <a:ext uri="{FF2B5EF4-FFF2-40B4-BE49-F238E27FC236}">
                <a16:creationId xmlns:a16="http://schemas.microsoft.com/office/drawing/2014/main" id="{0768A0F9-FEB2-6480-D20E-5C55EB69A3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304" y="2180261"/>
            <a:ext cx="3272756" cy="3213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642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457200" cy="64008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C2A8"/>
                </a:solidFill>
                <a:latin typeface="Segoe UI"/>
              </a:rPr>
              <a:t>THE METAPHOR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217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8CA0"/>
                </a:solidFill>
                <a:latin typeface="Segoe U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Meet today's model for an agent: Mr. Potato Head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7287" y="2331720"/>
            <a:ext cx="5455767" cy="1554480"/>
          </a:xfrm>
          <a:prstGeom prst="roundRect">
            <a:avLst>
              <a:gd name="adj" fmla="val 6000"/>
            </a:avLst>
          </a:prstGeom>
          <a:solidFill>
            <a:srgbClr val="16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87287" y="2331720"/>
            <a:ext cx="82296" cy="155448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3319" y="2478024"/>
            <a:ext cx="4943703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</a:rPr>
              <a:t>The bare potato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3319" y="2898648"/>
            <a:ext cx="4943703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FBECF"/>
                </a:solidFill>
                <a:latin typeface="Segoe UI"/>
              </a:rPr>
              <a:t>This is the raw model — GitHub Copilot's brain. Smart, but with no way to see, hear, or reach anything outside the chat window.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7287" y="4069080"/>
            <a:ext cx="5455767" cy="1554480"/>
          </a:xfrm>
          <a:prstGeom prst="roundRect">
            <a:avLst>
              <a:gd name="adj" fmla="val 6000"/>
            </a:avLst>
          </a:prstGeom>
          <a:solidFill>
            <a:srgbClr val="16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87287" y="4069080"/>
            <a:ext cx="82296" cy="155448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3319" y="4215384"/>
            <a:ext cx="4943703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</a:rPr>
              <a:t>Every part you snap 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3319" y="4636008"/>
            <a:ext cx="4943703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FBECF"/>
                </a:solidFill>
                <a:latin typeface="Segoe UI"/>
              </a:rPr>
              <a:t>Is a tool. Ears to hear. Eyes to see. Arms to reach out and act. No arms, no typing. No eyes, no reading your screen.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5D2E0"/>
                </a:solidFill>
                <a:latin typeface="Segoe UI"/>
              </a:rPr>
              <a:t>Tools aren't features bolted on for fun — </a:t>
            </a:r>
            <a:r>
              <a:rPr sz="1400" b="1" i="0">
                <a:solidFill>
                  <a:srgbClr val="FFB454"/>
                </a:solidFill>
                <a:latin typeface="Segoe UI"/>
              </a:rPr>
              <a:t>they’re literally how an agent perceives and acts.</a:t>
            </a:r>
          </a:p>
        </p:txBody>
      </p:sp>
      <p:pic>
        <p:nvPicPr>
          <p:cNvPr id="90" name="Potato parts illustration" descr="Illustration of a bare potato beside snap-on eyes, ears and arm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68880"/>
            <a:ext cx="5303520" cy="3005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457200" cy="64008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C2A8"/>
                </a:solidFill>
                <a:latin typeface="Segoe UI"/>
              </a:rPr>
              <a:t>THE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217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8CA0"/>
                </a:solidFill>
                <a:latin typeface="Segoe U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A2433"/>
                </a:solidFill>
                <a:latin typeface="Segoe UI"/>
              </a:rPr>
              <a:t>GitHub Copilot, zero tools attached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7287" y="2331720"/>
            <a:ext cx="5455767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87287" y="2331720"/>
            <a:ext cx="82296" cy="1554480"/>
          </a:xfrm>
          <a:prstGeom prst="rect">
            <a:avLst/>
          </a:prstGeom>
          <a:solidFill>
            <a:srgbClr val="1A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3319" y="2478024"/>
            <a:ext cx="4943703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2433"/>
                </a:solidFill>
                <a:latin typeface="Segoe UI"/>
              </a:rPr>
              <a:t>What it can already 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3319" y="2898648"/>
            <a:ext cx="4943703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A6B7E"/>
                </a:solidFill>
                <a:latin typeface="Segoe UI"/>
              </a:rPr>
              <a:t>Answer questions, draft code, explain an error — all from what it already knows. No arms, no eyes yet.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7287" y="4069080"/>
            <a:ext cx="5455767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87287" y="4069080"/>
            <a:ext cx="82296" cy="155448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3319" y="4215384"/>
            <a:ext cx="4943703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2433"/>
                </a:solidFill>
                <a:latin typeface="Segoe UI"/>
              </a:rPr>
              <a:t>What it can't do — yet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3319" y="4636008"/>
            <a:ext cx="4943703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A6B7E"/>
                </a:solidFill>
                <a:latin typeface="Segoe UI"/>
              </a:rPr>
              <a:t>Open your ticket tracker. Click a button on a real page. Not because it isn't smart enough — because it isn't plugged in yet.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B7E"/>
                </a:solidFill>
                <a:latin typeface="Segoe UI"/>
              </a:rPr>
              <a:t>Smart brain, </a:t>
            </a:r>
            <a:r>
              <a:rPr sz="1400" b="1" i="0">
                <a:solidFill>
                  <a:srgbClr val="1A2433"/>
                </a:solidFill>
                <a:latin typeface="Segoe UI"/>
              </a:rPr>
              <a:t>no hands, no eyes — yet.</a:t>
            </a:r>
          </a:p>
        </p:txBody>
      </p:sp>
      <p:pic>
        <p:nvPicPr>
          <p:cNvPr id="19" name="Potato parts illustration" descr="Illustration of a bare potato beside snap-on eyes, ears and arms">
            <a:extLst>
              <a:ext uri="{FF2B5EF4-FFF2-40B4-BE49-F238E27FC236}">
                <a16:creationId xmlns:a16="http://schemas.microsoft.com/office/drawing/2014/main" id="{D5DEE5C5-32CC-E840-481A-7F598D77DE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68880"/>
            <a:ext cx="5303520" cy="3005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457200" cy="64008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C2A8"/>
                </a:solidFill>
                <a:latin typeface="Segoe UI"/>
              </a:rPr>
              <a:t>TOOL #1 · ARMS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217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8CA0"/>
                </a:solidFill>
                <a:latin typeface="Segoe U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pncli gives Copilot arms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FBECF"/>
                </a:solidFill>
                <a:latin typeface="Segoe UI"/>
              </a:rPr>
              <a:t>One CLI in front of 17 enterprise tools — identity, work items, source control.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7287" y="2148840"/>
            <a:ext cx="5455767" cy="1188720"/>
          </a:xfrm>
          <a:prstGeom prst="roundRect">
            <a:avLst>
              <a:gd name="adj" fmla="val 8000"/>
            </a:avLst>
          </a:prstGeom>
          <a:solidFill>
            <a:srgbClr val="16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88455" y="2313432"/>
            <a:ext cx="347472" cy="50292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88455" y="2441448"/>
            <a:ext cx="5053431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Identity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8455" y="2743200"/>
            <a:ext cx="5053431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 dirty="0">
                <a:solidFill>
                  <a:srgbClr val="00C2A8"/>
                </a:solidFill>
                <a:latin typeface="Consolas"/>
              </a:rPr>
              <a:t>$ </a:t>
            </a:r>
            <a:r>
              <a:rPr sz="1200" b="0" i="0" dirty="0" err="1">
                <a:solidFill>
                  <a:srgbClr val="00C2A8"/>
                </a:solidFill>
                <a:latin typeface="Consolas"/>
              </a:rPr>
              <a:t>pncli</a:t>
            </a:r>
            <a:r>
              <a:rPr sz="1200" b="0" i="0" dirty="0">
                <a:solidFill>
                  <a:srgbClr val="00C2A8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E8EFF7"/>
                </a:solidFill>
                <a:latin typeface="Consolas"/>
              </a:rPr>
              <a:t>config </a:t>
            </a:r>
            <a:r>
              <a:rPr lang="en-US" sz="1200" dirty="0" err="1">
                <a:solidFill>
                  <a:srgbClr val="E8EFF7"/>
                </a:solidFill>
                <a:latin typeface="Consolas"/>
              </a:rPr>
              <a:t>init</a:t>
            </a:r>
            <a:endParaRPr sz="1200" b="0" i="0" dirty="0">
              <a:solidFill>
                <a:srgbClr val="00C2A8"/>
              </a:solidFill>
              <a:latin typeface="Consola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88455" y="3035808"/>
            <a:ext cx="5053431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AFBECF"/>
                </a:solidFill>
                <a:latin typeface="Segoe UI"/>
              </a:rPr>
              <a:t>Wh</a:t>
            </a:r>
            <a:r>
              <a:rPr lang="en-US" sz="1100" b="0" i="0" dirty="0">
                <a:solidFill>
                  <a:srgbClr val="AFBECF"/>
                </a:solidFill>
                <a:latin typeface="Segoe UI"/>
              </a:rPr>
              <a:t>en</a:t>
            </a:r>
            <a:r>
              <a:rPr sz="1100" b="0" i="0" dirty="0">
                <a:solidFill>
                  <a:srgbClr val="AFBECF"/>
                </a:solidFill>
                <a:latin typeface="Segoe UI"/>
              </a:rPr>
              <a:t> Copilot </a:t>
            </a:r>
            <a:r>
              <a:rPr lang="en-US" sz="1100" dirty="0">
                <a:solidFill>
                  <a:srgbClr val="AFBECF"/>
                </a:solidFill>
                <a:latin typeface="Segoe UI"/>
              </a:rPr>
              <a:t>uses the </a:t>
            </a:r>
            <a:r>
              <a:rPr lang="en-US" sz="1100" dirty="0" err="1">
                <a:solidFill>
                  <a:srgbClr val="AFBECF"/>
                </a:solidFill>
                <a:latin typeface="Segoe UI"/>
              </a:rPr>
              <a:t>pncli</a:t>
            </a:r>
            <a:r>
              <a:rPr lang="en-US" sz="1100" dirty="0">
                <a:solidFill>
                  <a:srgbClr val="AFBECF"/>
                </a:solidFill>
                <a:latin typeface="Segoe UI"/>
              </a:rPr>
              <a:t> </a:t>
            </a:r>
            <a:r>
              <a:rPr sz="1100" b="0" i="0" dirty="0">
                <a:solidFill>
                  <a:srgbClr val="AFBECF"/>
                </a:solidFill>
                <a:latin typeface="Segoe UI"/>
              </a:rPr>
              <a:t>— </a:t>
            </a:r>
            <a:r>
              <a:rPr lang="en-US" sz="1100" b="0" i="0" dirty="0">
                <a:solidFill>
                  <a:srgbClr val="AFBECF"/>
                </a:solidFill>
                <a:latin typeface="Segoe UI"/>
              </a:rPr>
              <a:t>is acts on your behalf</a:t>
            </a:r>
            <a:endParaRPr sz="1100" b="0" i="0" dirty="0">
              <a:solidFill>
                <a:srgbClr val="AFBECF"/>
              </a:solidFill>
              <a:latin typeface="Segoe U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187287" y="3429000"/>
            <a:ext cx="5455767" cy="1506174"/>
          </a:xfrm>
          <a:prstGeom prst="roundRect">
            <a:avLst>
              <a:gd name="adj" fmla="val 8000"/>
            </a:avLst>
          </a:prstGeom>
          <a:solidFill>
            <a:srgbClr val="16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88455" y="3593592"/>
            <a:ext cx="347472" cy="50292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88455" y="3721608"/>
            <a:ext cx="5053431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Work items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8455" y="4023360"/>
            <a:ext cx="5053431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200" dirty="0">
                <a:solidFill>
                  <a:srgbClr val="00C2A8"/>
                </a:solidFill>
                <a:latin typeface="Consolas"/>
              </a:rPr>
              <a:t>$ copilot</a:t>
            </a:r>
            <a:r>
              <a:rPr lang="en-US" sz="1200" dirty="0">
                <a:solidFill>
                  <a:srgbClr val="E8EFF7"/>
                </a:solidFill>
                <a:latin typeface="Consolas"/>
              </a:rPr>
              <a:t> –p “Get all the issues currently assigned to me in Jira and prioritize them for me. Then show me all my PRs with a failed build and check the pipeline for the reason why”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7287" y="5057025"/>
            <a:ext cx="5455767" cy="1313146"/>
          </a:xfrm>
          <a:prstGeom prst="roundRect">
            <a:avLst>
              <a:gd name="adj" fmla="val 8000"/>
            </a:avLst>
          </a:prstGeom>
          <a:solidFill>
            <a:srgbClr val="16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88455" y="5201739"/>
            <a:ext cx="347472" cy="50292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88455" y="5329755"/>
            <a:ext cx="5053431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500" b="1" i="0" dirty="0">
                <a:solidFill>
                  <a:srgbClr val="FFFFFF"/>
                </a:solidFill>
                <a:latin typeface="Segoe UI"/>
              </a:rPr>
              <a:t>Knowledge Base</a:t>
            </a:r>
            <a:endParaRPr sz="1500"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388455" y="5631507"/>
            <a:ext cx="5053431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 dirty="0">
                <a:solidFill>
                  <a:srgbClr val="00C2A8"/>
                </a:solidFill>
                <a:latin typeface="Consolas"/>
              </a:rPr>
              <a:t>$ </a:t>
            </a:r>
            <a:r>
              <a:rPr lang="en-US" sz="1200" b="0" i="0" dirty="0">
                <a:solidFill>
                  <a:srgbClr val="00C2A8"/>
                </a:solidFill>
                <a:latin typeface="Consolas"/>
              </a:rPr>
              <a:t>copilot </a:t>
            </a:r>
            <a:r>
              <a:rPr lang="en-US" sz="1200" dirty="0">
                <a:solidFill>
                  <a:srgbClr val="E8EFF7"/>
                </a:solidFill>
                <a:latin typeface="Consolas"/>
              </a:rPr>
              <a:t>–p “Search confluence for any details you can find on ‘WBA’ and summarize it to me. Also, how many more pneumonic could there possibly be in this organization?”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200" b="0" i="0" dirty="0">
              <a:solidFill>
                <a:srgbClr val="00C2A8"/>
              </a:solidFill>
              <a:latin typeface="Consola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5D2E0"/>
                </a:solidFill>
                <a:latin typeface="Segoe UI"/>
              </a:rPr>
              <a:t>Now Copilot can reach into 17 tools — </a:t>
            </a:r>
            <a:r>
              <a:rPr sz="1400" b="1" i="0">
                <a:solidFill>
                  <a:srgbClr val="FFB454"/>
                </a:solidFill>
                <a:latin typeface="Segoe UI"/>
              </a:rPr>
              <a:t>one CLI, one set of arms.</a:t>
            </a:r>
          </a:p>
        </p:txBody>
      </p:sp>
      <p:pic>
        <p:nvPicPr>
          <p:cNvPr id="91" name="Potato with arms illustration" descr="Illustration of a potato with two arms attach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377440"/>
            <a:ext cx="3666744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457200" cy="64008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C2A8"/>
                </a:solidFill>
                <a:latin typeface="Segoe UI"/>
              </a:rPr>
              <a:t>LIVE DEMO · ARMS IN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217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8CA0"/>
                </a:solidFill>
                <a:latin typeface="Segoe U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A2433"/>
                </a:solidFill>
                <a:latin typeface="Segoe UI"/>
              </a:rPr>
              <a:t>Watching pncli work, 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A6B7E"/>
                </a:solidFill>
                <a:latin typeface="Segoe UI"/>
              </a:rPr>
              <a:t>Slide placeholder — real scenario goes here before the talk.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11094415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286000"/>
            <a:ext cx="82296" cy="301752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596896"/>
            <a:ext cx="10362895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1600" b="1" i="0">
                <a:solidFill>
                  <a:srgbClr val="1A2433"/>
                </a:solidFill>
                <a:latin typeface="Segoe UI"/>
              </a:rPr>
              <a:t>Scenario:  </a:t>
            </a:r>
            <a:r>
              <a:rPr sz="1600" b="0" i="1">
                <a:solidFill>
                  <a:srgbClr val="5A6B7E"/>
                </a:solidFill>
                <a:latin typeface="Segoe UI"/>
              </a:rPr>
              <a:t>TBD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1600" b="1" i="0">
                <a:solidFill>
                  <a:srgbClr val="1A2433"/>
                </a:solidFill>
                <a:latin typeface="Segoe UI"/>
              </a:rPr>
              <a:t>Starting point:  </a:t>
            </a:r>
            <a:r>
              <a:rPr sz="1600" b="0" i="1">
                <a:solidFill>
                  <a:srgbClr val="5A6B7E"/>
                </a:solidFill>
                <a:latin typeface="Segoe UI"/>
              </a:rPr>
              <a:t>TBD — what’s already set up before we press go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1600" b="1" i="0">
                <a:solidFill>
                  <a:srgbClr val="1A2433"/>
                </a:solidFill>
                <a:latin typeface="Segoe UI"/>
              </a:rPr>
              <a:t>Steps we'll narrate:  </a:t>
            </a:r>
            <a:r>
              <a:rPr sz="1600" b="0" i="1">
                <a:solidFill>
                  <a:srgbClr val="5A6B7E"/>
                </a:solidFill>
                <a:latin typeface="Segoe UI"/>
              </a:rPr>
              <a:t>TBD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1600" b="1" i="0">
                <a:solidFill>
                  <a:srgbClr val="1A2433"/>
                </a:solidFill>
                <a:latin typeface="Segoe UI"/>
              </a:rPr>
              <a:t>End state:  </a:t>
            </a:r>
            <a:r>
              <a:rPr sz="1600" b="0" i="1">
                <a:solidFill>
                  <a:srgbClr val="5A6B7E"/>
                </a:solidFill>
                <a:latin typeface="Segoe UI"/>
              </a:rPr>
              <a:t>TBD — what you just saw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B7E"/>
                </a:solidFill>
                <a:latin typeface="Segoe UI"/>
              </a:rPr>
              <a:t>Narrate as you go — </a:t>
            </a:r>
            <a:r>
              <a:rPr sz="1400" b="1" i="0">
                <a:solidFill>
                  <a:srgbClr val="1A2433"/>
                </a:solidFill>
                <a:latin typeface="Segoe UI"/>
              </a:rPr>
              <a:t>name the sense pncli is using at each step.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9E989-32F4-7E5B-3C7C-7E9548C40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F484CD-143D-F02C-E75F-BA450F1FA03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E93C27-8637-C303-8880-6A3F30992B22}"/>
              </a:ext>
            </a:extLst>
          </p:cNvPr>
          <p:cNvSpPr/>
          <p:nvPr/>
        </p:nvSpPr>
        <p:spPr>
          <a:xfrm>
            <a:off x="548640" y="502920"/>
            <a:ext cx="457200" cy="64008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21A3BE-3582-6229-F1E7-62773BC1BA92}"/>
              </a:ext>
            </a:extLst>
          </p:cNvPr>
          <p:cNvSpPr txBox="1"/>
          <p:nvPr/>
        </p:nvSpPr>
        <p:spPr>
          <a:xfrm>
            <a:off x="548640" y="62179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C2A8"/>
                </a:solidFill>
                <a:latin typeface="Segoe UI"/>
              </a:rPr>
              <a:t>TOOL #2 · EYES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926771-E799-B580-F733-E86809250F85}"/>
              </a:ext>
            </a:extLst>
          </p:cNvPr>
          <p:cNvSpPr txBox="1"/>
          <p:nvPr/>
        </p:nvSpPr>
        <p:spPr>
          <a:xfrm>
            <a:off x="11155680" y="6217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8CA0"/>
                </a:solidFill>
                <a:latin typeface="Segoe UI"/>
              </a:rPr>
              <a:t>08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AE1304-F0F3-B8EE-44E6-B5E1F2CA2EE5}"/>
              </a:ext>
            </a:extLst>
          </p:cNvPr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Playwright CLI gives Copilot eyes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261529-3FFA-7947-3B25-253C18FD870B}"/>
              </a:ext>
            </a:extLst>
          </p:cNvPr>
          <p:cNvSpPr txBox="1"/>
          <p:nvPr/>
        </p:nvSpPr>
        <p:spPr>
          <a:xfrm>
            <a:off x="548640" y="164592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FBECF"/>
                </a:solidFill>
                <a:latin typeface="Segoe UI"/>
              </a:rPr>
              <a:t>Open a real page, see what’s rendered, act on it — not just read the HTML.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4E2F81-5353-114E-0B5A-7468A68CD137}"/>
              </a:ext>
            </a:extLst>
          </p:cNvPr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5D2E0"/>
                </a:solidFill>
                <a:latin typeface="Segoe UI"/>
              </a:rPr>
              <a:t>No more guessing at HTML — </a:t>
            </a:r>
            <a:r>
              <a:rPr sz="1400" b="1" i="0">
                <a:solidFill>
                  <a:srgbClr val="FFB454"/>
                </a:solidFill>
                <a:latin typeface="Segoe UI"/>
              </a:rPr>
              <a:t>Copilot can finally see the rendered page.</a:t>
            </a:r>
          </a:p>
        </p:txBody>
      </p:sp>
      <p:pic>
        <p:nvPicPr>
          <p:cNvPr id="32" name="Potato with arms illustration" descr="Illustration of a potato with two arms attached">
            <a:extLst>
              <a:ext uri="{FF2B5EF4-FFF2-40B4-BE49-F238E27FC236}">
                <a16:creationId xmlns:a16="http://schemas.microsoft.com/office/drawing/2014/main" id="{5738FCBE-2FFB-8A2E-C78F-2D8A978F0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377440"/>
            <a:ext cx="3666744" cy="301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879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457200" cy="64008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C2A8"/>
                </a:solidFill>
                <a:latin typeface="Segoe UI"/>
              </a:rPr>
              <a:t>TOOL #2 · EYES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217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8CA0"/>
                </a:solidFill>
                <a:latin typeface="Segoe U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Playwright CLI gives Copilot eyes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FBECF"/>
                </a:solidFill>
                <a:latin typeface="Segoe UI"/>
              </a:rPr>
              <a:t>Open a real page, see what’s rendered, act on it — not just read the HTML.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7287" y="2148840"/>
            <a:ext cx="5455767" cy="1188720"/>
          </a:xfrm>
          <a:prstGeom prst="roundRect">
            <a:avLst>
              <a:gd name="adj" fmla="val 8000"/>
            </a:avLst>
          </a:prstGeom>
          <a:solidFill>
            <a:srgbClr val="16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88455" y="2313432"/>
            <a:ext cx="347472" cy="50292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8455" y="2441448"/>
            <a:ext cx="5053431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See the page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8455" y="2743200"/>
            <a:ext cx="5053431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C2A8"/>
                </a:solidFill>
                <a:latin typeface="Consolas"/>
              </a:rPr>
              <a:t>$ playwright-cli open https://example.com/form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8455" y="3035808"/>
            <a:ext cx="5053431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FBECF"/>
                </a:solidFill>
                <a:latin typeface="Segoe UI"/>
              </a:rPr>
              <a:t>Loads the real, rendered page — not just its source.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7287" y="3429000"/>
            <a:ext cx="5455767" cy="1188720"/>
          </a:xfrm>
          <a:prstGeom prst="roundRect">
            <a:avLst>
              <a:gd name="adj" fmla="val 8000"/>
            </a:avLst>
          </a:prstGeom>
          <a:solidFill>
            <a:srgbClr val="16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88455" y="3593592"/>
            <a:ext cx="347472" cy="50292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88455" y="3721608"/>
            <a:ext cx="5053431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Act on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8455" y="4023360"/>
            <a:ext cx="5053431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C2A8"/>
                </a:solidFill>
                <a:latin typeface="Consolas"/>
              </a:rPr>
              <a:t>$ playwright-cli fill e1 "user@example.com"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8455" y="4315968"/>
            <a:ext cx="5053431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FBECF"/>
                </a:solidFill>
                <a:latin typeface="Segoe UI"/>
              </a:rPr>
              <a:t>Click, fill, and submit using refs from a live snapshot.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7287" y="4709160"/>
            <a:ext cx="5455767" cy="1333024"/>
          </a:xfrm>
          <a:prstGeom prst="roundRect">
            <a:avLst>
              <a:gd name="adj" fmla="val 8000"/>
            </a:avLst>
          </a:prstGeom>
          <a:solidFill>
            <a:srgbClr val="16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88455" y="4873752"/>
            <a:ext cx="347472" cy="50292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88455" y="5001768"/>
            <a:ext cx="5053431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500" b="1" i="0" dirty="0">
                <a:solidFill>
                  <a:srgbClr val="FFFFFF"/>
                </a:solidFill>
                <a:latin typeface="Segoe UI"/>
              </a:rPr>
              <a:t>Natural Language</a:t>
            </a:r>
            <a:endParaRPr sz="1500"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388455" y="5303520"/>
            <a:ext cx="5053431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200" dirty="0">
                <a:solidFill>
                  <a:srgbClr val="00C2A8"/>
                </a:solidFill>
                <a:latin typeface="Consolas"/>
              </a:rPr>
              <a:t>$ copilot </a:t>
            </a:r>
            <a:r>
              <a:rPr lang="en-US" sz="1200" dirty="0">
                <a:solidFill>
                  <a:srgbClr val="E8EFF7"/>
                </a:solidFill>
                <a:latin typeface="Consolas"/>
              </a:rPr>
              <a:t>–p “Ensure that the padding issue is fixed by providing me with a screenshot to post in Jira as evidence.”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200" b="0" i="0" dirty="0">
              <a:solidFill>
                <a:srgbClr val="00C2A8"/>
              </a:solidFill>
              <a:latin typeface="Consola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5D2E0"/>
                </a:solidFill>
                <a:latin typeface="Segoe UI"/>
              </a:rPr>
              <a:t>No more guessing at HTML — </a:t>
            </a:r>
            <a:r>
              <a:rPr sz="1400" b="1" i="0">
                <a:solidFill>
                  <a:srgbClr val="FFB454"/>
                </a:solidFill>
                <a:latin typeface="Segoe UI"/>
              </a:rPr>
              <a:t>Copilot can finally see the rendered page.</a:t>
            </a:r>
          </a:p>
        </p:txBody>
      </p:sp>
      <p:pic>
        <p:nvPicPr>
          <p:cNvPr id="32" name="Potato with arms illustration" descr="Illustration of a potato with two arms attached">
            <a:extLst>
              <a:ext uri="{FF2B5EF4-FFF2-40B4-BE49-F238E27FC236}">
                <a16:creationId xmlns:a16="http://schemas.microsoft.com/office/drawing/2014/main" id="{28447A49-3E14-27A1-2B9D-30D164235E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898" t="20508" r="12988" b="24219"/>
          <a:stretch>
            <a:fillRect/>
          </a:stretch>
        </p:blipFill>
        <p:spPr>
          <a:xfrm>
            <a:off x="1400472" y="2377440"/>
            <a:ext cx="360900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457200" cy="64008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C2A8"/>
                </a:solidFill>
                <a:latin typeface="Segoe UI"/>
              </a:rPr>
              <a:t>LIVE DEMO · EYES IN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217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8CA0"/>
                </a:solidFill>
                <a:latin typeface="Segoe U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A2433"/>
                </a:solidFill>
                <a:latin typeface="Segoe UI"/>
              </a:rPr>
              <a:t>Watching Playwright CLI work, 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A6B7E"/>
                </a:solidFill>
                <a:latin typeface="Segoe UI"/>
              </a:rPr>
              <a:t>Slide placeholder — real scenario goes here before the talk.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11094415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286000"/>
            <a:ext cx="82296" cy="301752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596896"/>
            <a:ext cx="10362895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1600" b="1" i="0">
                <a:solidFill>
                  <a:srgbClr val="1A2433"/>
                </a:solidFill>
                <a:latin typeface="Segoe UI"/>
              </a:rPr>
              <a:t>Scenario:  </a:t>
            </a:r>
            <a:r>
              <a:rPr sz="1600" b="0" i="1">
                <a:solidFill>
                  <a:srgbClr val="5A6B7E"/>
                </a:solidFill>
                <a:latin typeface="Segoe UI"/>
              </a:rPr>
              <a:t>TBD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1600" b="1" i="0">
                <a:solidFill>
                  <a:srgbClr val="1A2433"/>
                </a:solidFill>
                <a:latin typeface="Segoe UI"/>
              </a:rPr>
              <a:t>Starting point:  </a:t>
            </a:r>
            <a:r>
              <a:rPr sz="1600" b="0" i="1">
                <a:solidFill>
                  <a:srgbClr val="5A6B7E"/>
                </a:solidFill>
                <a:latin typeface="Segoe UI"/>
              </a:rPr>
              <a:t>TBD — page/site, logged-in state, etc.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1600" b="1" i="0">
                <a:solidFill>
                  <a:srgbClr val="1A2433"/>
                </a:solidFill>
                <a:latin typeface="Segoe UI"/>
              </a:rPr>
              <a:t>Steps we'll narrate:  </a:t>
            </a:r>
            <a:r>
              <a:rPr sz="1600" b="0" i="1">
                <a:solidFill>
                  <a:srgbClr val="5A6B7E"/>
                </a:solidFill>
                <a:latin typeface="Segoe UI"/>
              </a:rPr>
              <a:t>TBD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1600" b="1" i="0">
                <a:solidFill>
                  <a:srgbClr val="1A2433"/>
                </a:solidFill>
                <a:latin typeface="Segoe UI"/>
              </a:rPr>
              <a:t>End state:  </a:t>
            </a:r>
            <a:r>
              <a:rPr sz="1600" b="0" i="1">
                <a:solidFill>
                  <a:srgbClr val="5A6B7E"/>
                </a:solidFill>
                <a:latin typeface="Segoe UI"/>
              </a:rPr>
              <a:t>TBD — what you just saw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B7E"/>
                </a:solidFill>
                <a:latin typeface="Segoe UI"/>
              </a:rPr>
              <a:t>Narrate as you go — </a:t>
            </a:r>
            <a:r>
              <a:rPr sz="1400" b="1" i="0">
                <a:solidFill>
                  <a:srgbClr val="1A2433"/>
                </a:solidFill>
                <a:latin typeface="Segoe UI"/>
              </a:rPr>
              <a:t>point out seeing the page vs. acting on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457200" cy="64008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C2A8"/>
                </a:solidFill>
                <a:latin typeface="Segoe UI"/>
              </a:rPr>
              <a:t>PUTTING IT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217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8CA0"/>
                </a:solidFill>
                <a:latin typeface="Segoe U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One potato, two new senses</a:t>
            </a:r>
          </a:p>
        </p:txBody>
      </p:sp>
      <p:pic>
        <p:nvPicPr>
          <p:cNvPr id="94" name="Potato with arms and eyes" descr="Potato character with arms and eyes attach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141" y="2378235"/>
            <a:ext cx="4058815" cy="278812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187287" y="2148840"/>
            <a:ext cx="5455767" cy="1234440"/>
          </a:xfrm>
          <a:prstGeom prst="roundRect">
            <a:avLst>
              <a:gd name="adj" fmla="val 7000"/>
            </a:avLst>
          </a:prstGeom>
          <a:solidFill>
            <a:srgbClr val="16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6743" y="2368296"/>
            <a:ext cx="384048" cy="54864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6743" y="2532888"/>
            <a:ext cx="501685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Segoe UI"/>
              </a:rPr>
              <a:t>Brain — Copilot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6743" y="2935224"/>
            <a:ext cx="50168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FBECF"/>
                </a:solidFill>
                <a:latin typeface="Segoe UI"/>
              </a:rPr>
              <a:t>Reasons, drafts, and explains from what it already knows.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7287" y="3520440"/>
            <a:ext cx="5455767" cy="1234440"/>
          </a:xfrm>
          <a:prstGeom prst="roundRect">
            <a:avLst>
              <a:gd name="adj" fmla="val 7000"/>
            </a:avLst>
          </a:prstGeom>
          <a:solidFill>
            <a:srgbClr val="16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6743" y="3739896"/>
            <a:ext cx="384048" cy="54864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6743" y="3904488"/>
            <a:ext cx="501685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Segoe UI"/>
              </a:rPr>
              <a:t>Arms — pncli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6743" y="4306824"/>
            <a:ext cx="50168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FBECF"/>
                </a:solidFill>
                <a:latin typeface="Segoe UI"/>
              </a:rPr>
              <a:t>Reaches into 17 enterprise tools: tickets, PRs, prod checks.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7287" y="4892040"/>
            <a:ext cx="5455767" cy="1051560"/>
          </a:xfrm>
          <a:prstGeom prst="roundRect">
            <a:avLst>
              <a:gd name="adj" fmla="val 7000"/>
            </a:avLst>
          </a:prstGeom>
          <a:solidFill>
            <a:srgbClr val="16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6743" y="5111496"/>
            <a:ext cx="384048" cy="54864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6743" y="5276088"/>
            <a:ext cx="501685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Segoe UI"/>
              </a:rPr>
              <a:t>Eyes — Playwright CLI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6743" y="5678424"/>
            <a:ext cx="5016855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FBECF"/>
                </a:solidFill>
                <a:latin typeface="Segoe UI"/>
              </a:rPr>
              <a:t>Sees the rendered page and acts on it directly.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5D2E0"/>
                </a:solidFill>
                <a:latin typeface="Segoe UI"/>
              </a:rPr>
              <a:t>Tools compose — </a:t>
            </a:r>
            <a:r>
              <a:rPr sz="1400" b="1" i="0">
                <a:solidFill>
                  <a:srgbClr val="FFB454"/>
                </a:solidFill>
                <a:latin typeface="Segoe UI"/>
              </a:rPr>
              <a:t>that's what makes this an agent, not just a chatbot with plugins.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457200" cy="64008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C2A8"/>
                </a:solidFill>
                <a:latin typeface="Segoe UI"/>
              </a:rPr>
              <a:t>GETTING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217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8CA0"/>
                </a:solidFill>
                <a:latin typeface="Segoe U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A2433"/>
                </a:solidFill>
                <a:latin typeface="Segoe UI"/>
              </a:rPr>
              <a:t>What changes Monday morning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A6B7E"/>
                </a:solidFill>
                <a:latin typeface="Segoe UI"/>
              </a:rPr>
              <a:t>This isn't about replacing judgment — it's about removing the boring parts.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2636443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49808" y="25328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53288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2433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200400"/>
            <a:ext cx="2234107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2433"/>
                </a:solidFill>
                <a:latin typeface="Segoe UI"/>
              </a:rPr>
              <a:t>Install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657600"/>
            <a:ext cx="2234107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B7E"/>
                </a:solidFill>
                <a:latin typeface="Segoe UI"/>
              </a:rPr>
              <a:t>Copilot in your editor, plus pncli and Playwright CLI where you work.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7963" y="2331720"/>
            <a:ext cx="2636443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569131" y="25328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69131" y="253288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2433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9131" y="3200400"/>
            <a:ext cx="2234107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2433"/>
                </a:solidFill>
                <a:latin typeface="Segoe UI"/>
              </a:rPr>
              <a:t>Pick one task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9131" y="3657600"/>
            <a:ext cx="2234107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B7E"/>
                </a:solidFill>
                <a:latin typeface="Segoe UI"/>
              </a:rPr>
              <a:t>A ticket lookup, a PR, a page check — something small and boring.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7287" y="2331720"/>
            <a:ext cx="2636443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388455" y="25328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88455" y="253288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2433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8455" y="3200400"/>
            <a:ext cx="2234107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2433"/>
                </a:solidFill>
                <a:latin typeface="Segoe UI"/>
              </a:rPr>
              <a:t>Hand it off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8455" y="3657600"/>
            <a:ext cx="2234107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B7E"/>
                </a:solidFill>
                <a:latin typeface="Segoe UI"/>
              </a:rPr>
              <a:t>Ask Copilot to do it with the tool attached. Watch what it reaches for.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611" y="2331720"/>
            <a:ext cx="2636443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207779" y="25328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07779" y="253288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2433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7779" y="3200400"/>
            <a:ext cx="2234107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2433"/>
                </a:solidFill>
                <a:latin typeface="Segoe UI"/>
              </a:rPr>
              <a:t>Ask around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7779" y="3657600"/>
            <a:ext cx="2234107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B7E"/>
                </a:solidFill>
                <a:latin typeface="Segoe UI"/>
              </a:rPr>
              <a:t>Not sure how? Ask a teammate already doing this — or ask Copilot.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B7E"/>
                </a:solidFill>
                <a:latin typeface="Segoe UI"/>
              </a:rPr>
              <a:t>Ten minutes of setup — </a:t>
            </a:r>
            <a:r>
              <a:rPr sz="1400" b="1" i="0">
                <a:solidFill>
                  <a:srgbClr val="1A2433"/>
                </a:solidFill>
                <a:latin typeface="Segoe UI"/>
              </a:rPr>
              <a:t>buys back the boring parts of your week.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412480" y="-1828800"/>
            <a:ext cx="6583680" cy="6583680"/>
          </a:xfrm>
          <a:prstGeom prst="ellipse">
            <a:avLst/>
          </a:prstGeom>
          <a:solidFill>
            <a:srgbClr val="1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Oval 3"/>
          <p:cNvSpPr/>
          <p:nvPr/>
        </p:nvSpPr>
        <p:spPr>
          <a:xfrm>
            <a:off x="9692640" y="2377440"/>
            <a:ext cx="4937760" cy="4937760"/>
          </a:xfrm>
          <a:prstGeom prst="ellipse">
            <a:avLst/>
          </a:prstGeom>
          <a:solidFill>
            <a:srgbClr val="13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3" name="Captain potato illustration" descr="Fully assembled potato character wearing a pilot captain ha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08" y="704493"/>
            <a:ext cx="2755392" cy="270581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" y="1920240"/>
            <a:ext cx="859536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 dirty="0">
                <a:solidFill>
                  <a:srgbClr val="FFFFFF"/>
                </a:solidFill>
                <a:latin typeface="Segoe UI"/>
              </a:rPr>
              <a:t>One brain. Two new senses.
A lot fewer tabs.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8595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C2A8"/>
                </a:solidFill>
                <a:latin typeface="Segoe UI"/>
              </a:rPr>
              <a:t>GitHub Copilot + pncli + Playwright CLI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0520"/>
            <a:ext cx="3576218" cy="1371600"/>
          </a:xfrm>
          <a:prstGeom prst="roundRect">
            <a:avLst>
              <a:gd name="adj" fmla="val 7000"/>
            </a:avLst>
          </a:prstGeom>
          <a:solidFill>
            <a:srgbClr val="16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68096" y="4379976"/>
            <a:ext cx="384048" cy="54864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8096" y="4544568"/>
            <a:ext cx="3137306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Segoe UI"/>
              </a:rPr>
              <a:t>Try pncli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4946904"/>
            <a:ext cx="313730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FBECF"/>
                </a:solidFill>
                <a:latin typeface="Segoe UI"/>
              </a:rPr>
              <a:t>Run pncli config test — green across the board is ten minutes away.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7738" y="4160520"/>
            <a:ext cx="3576218" cy="1371600"/>
          </a:xfrm>
          <a:prstGeom prst="roundRect">
            <a:avLst>
              <a:gd name="adj" fmla="val 7000"/>
            </a:avLst>
          </a:prstGeom>
          <a:solidFill>
            <a:srgbClr val="16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27194" y="4379976"/>
            <a:ext cx="384048" cy="54864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27194" y="4544568"/>
            <a:ext cx="3137306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Segoe UI"/>
              </a:rPr>
              <a:t>Try Playwright CLI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7194" y="4946904"/>
            <a:ext cx="313730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FBECF"/>
                </a:solidFill>
                <a:latin typeface="Segoe UI"/>
              </a:rPr>
              <a:t>Open one real page and watch Copilot see and act on 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66836" y="4160520"/>
            <a:ext cx="3576218" cy="1371600"/>
          </a:xfrm>
          <a:prstGeom prst="roundRect">
            <a:avLst>
              <a:gd name="adj" fmla="val 7000"/>
            </a:avLst>
          </a:prstGeom>
          <a:solidFill>
            <a:srgbClr val="16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86292" y="4379976"/>
            <a:ext cx="384048" cy="54864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86292" y="4544568"/>
            <a:ext cx="3137306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Segoe UI"/>
              </a:rPr>
              <a:t>Ask a teammate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6292" y="4946904"/>
            <a:ext cx="313730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FBECF"/>
                </a:solidFill>
                <a:latin typeface="Segoe UI"/>
              </a:rPr>
              <a:t>Someone in this room is already doing this. Find them.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C2A8"/>
                </a:solidFill>
                <a:latin typeface="Consolas"/>
              </a:rPr>
              <a:t>$ pncli config test   →   every service: 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589</TotalTime>
  <Words>1419</Words>
  <Application>Microsoft Office PowerPoint</Application>
  <PresentationFormat>Widescreen</PresentationFormat>
  <Paragraphs>185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Jorge Garcia</cp:lastModifiedBy>
  <cp:revision>4</cp:revision>
  <dcterms:created xsi:type="dcterms:W3CDTF">2013-01-27T09:14:16Z</dcterms:created>
  <dcterms:modified xsi:type="dcterms:W3CDTF">2026-08-24T11:47:11Z</dcterms:modified>
  <cp:category/>
</cp:coreProperties>
</file>